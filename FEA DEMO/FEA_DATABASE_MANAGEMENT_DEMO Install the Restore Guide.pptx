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34"/>
  </p:notesMasterIdLst>
  <p:handoutMasterIdLst>
    <p:handoutMasterId r:id="rId35"/>
  </p:handoutMasterIdLst>
  <p:sldIdLst>
    <p:sldId id="14649" r:id="rId3"/>
    <p:sldId id="14652" r:id="rId4"/>
    <p:sldId id="14654" r:id="rId5"/>
    <p:sldId id="14653" r:id="rId6"/>
    <p:sldId id="14655" r:id="rId7"/>
    <p:sldId id="14656" r:id="rId8"/>
    <p:sldId id="14657" r:id="rId9"/>
    <p:sldId id="14660" r:id="rId10"/>
    <p:sldId id="14661" r:id="rId11"/>
    <p:sldId id="14662" r:id="rId12"/>
    <p:sldId id="14658" r:id="rId13"/>
    <p:sldId id="14659" r:id="rId14"/>
    <p:sldId id="14663" r:id="rId15"/>
    <p:sldId id="14664" r:id="rId16"/>
    <p:sldId id="14666" r:id="rId17"/>
    <p:sldId id="14667" r:id="rId18"/>
    <p:sldId id="14669" r:id="rId19"/>
    <p:sldId id="14668" r:id="rId20"/>
    <p:sldId id="14665" r:id="rId21"/>
    <p:sldId id="14670" r:id="rId22"/>
    <p:sldId id="14672" r:id="rId23"/>
    <p:sldId id="14674" r:id="rId24"/>
    <p:sldId id="14675" r:id="rId25"/>
    <p:sldId id="14673" r:id="rId26"/>
    <p:sldId id="14671" r:id="rId27"/>
    <p:sldId id="14677" r:id="rId28"/>
    <p:sldId id="14679" r:id="rId29"/>
    <p:sldId id="14681" r:id="rId30"/>
    <p:sldId id="14682" r:id="rId31"/>
    <p:sldId id="14683" r:id="rId32"/>
    <p:sldId id="14648" r:id="rId33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7">
          <p15:clr>
            <a:srgbClr val="A4A3A4"/>
          </p15:clr>
        </p15:guide>
        <p15:guide id="2" pos="3972">
          <p15:clr>
            <a:srgbClr val="A4A3A4"/>
          </p15:clr>
        </p15:guide>
        <p15:guide id="3" pos="553">
          <p15:clr>
            <a:srgbClr val="A4A3A4"/>
          </p15:clr>
        </p15:guide>
        <p15:guide id="4" pos="721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思蜀" initials="刘思蜀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B419"/>
    <a:srgbClr val="595959"/>
    <a:srgbClr val="212121"/>
    <a:srgbClr val="404040"/>
    <a:srgbClr val="017598"/>
    <a:srgbClr val="00779A"/>
    <a:srgbClr val="23A393"/>
    <a:srgbClr val="63A9D1"/>
    <a:srgbClr val="5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99F6D-F567-41DA-8D77-AECB9B7D645B}" v="5" dt="2020-07-13T13:26:37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144" autoAdjust="0"/>
  </p:normalViewPr>
  <p:slideViewPr>
    <p:cSldViewPr snapToGrid="0" showGuides="1">
      <p:cViewPr varScale="1">
        <p:scale>
          <a:sx n="145" d="100"/>
          <a:sy n="145" d="100"/>
        </p:scale>
        <p:origin x="828" y="132"/>
      </p:cViewPr>
      <p:guideLst>
        <p:guide orient="horz" pos="2487"/>
        <p:guide pos="3972"/>
        <p:guide pos="553"/>
        <p:guide pos="72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11444-68A1-4101-8539-A244B495EE04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F261C-EB16-4A84-BC43-83C9DD5439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798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00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36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660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29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593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635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167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485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F261C-EB16-4A84-BC43-83C9DD543928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642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在线浏览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FC88F-35C5-49E7-9293-1364F731753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1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8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2020年7月9日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504940"/>
            <a:ext cx="1668780" cy="216535"/>
          </a:xfrm>
        </p:spPr>
        <p:txBody>
          <a:bodyPr/>
          <a:lstStyle>
            <a:lvl1pPr>
              <a:defRPr sz="100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263DB197-84B0-484E-9C0F-88358ECCB797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978910" y="6430645"/>
            <a:ext cx="4114800" cy="365125"/>
          </a:xfrm>
        </p:spPr>
        <p:txBody>
          <a:bodyPr/>
          <a:lstStyle>
            <a:lvl1pPr>
              <a:defRPr sz="1000">
                <a:solidFill>
                  <a:schemeClr val="bg2">
                    <a:lumMod val="9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1</a:t>
            </a:r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330190" cy="364490"/>
          </a:xfrm>
        </p:spPr>
        <p:txBody>
          <a:bodyPr/>
          <a:lstStyle/>
          <a:p>
            <a:fld id="{E35D22AB-BC4C-43C9-B8BA-5BE4BF184D6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330190" cy="364490"/>
          </a:xfrm>
        </p:spPr>
        <p:txBody>
          <a:bodyPr/>
          <a:lstStyle/>
          <a:p>
            <a:fld id="{E35D22AB-BC4C-43C9-B8BA-5BE4BF184D6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5404625" y="6527310"/>
            <a:ext cx="304800" cy="0"/>
          </a:xfrm>
          <a:prstGeom prst="line">
            <a:avLst/>
          </a:prstGeom>
          <a:ln w="19050">
            <a:solidFill>
              <a:srgbClr val="23A3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 flipH="1">
            <a:off x="6467707" y="6527310"/>
            <a:ext cx="304800" cy="0"/>
          </a:xfrm>
          <a:prstGeom prst="line">
            <a:avLst/>
          </a:prstGeom>
          <a:ln w="19050">
            <a:solidFill>
              <a:srgbClr val="23A3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灯片编号占位符 5"/>
          <p:cNvSpPr txBox="1"/>
          <p:nvPr userDrawn="1"/>
        </p:nvSpPr>
        <p:spPr>
          <a:xfrm>
            <a:off x="4724400" y="63744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401DF53-E389-44F9-AF40-CB00C22B6A83}" type="slidenum">
              <a:rPr lang="zh-CN" altLang="en-US" sz="1100" smtClean="0"/>
              <a:t>‹#›</a:t>
            </a:fld>
            <a:endParaRPr lang="zh-CN" altLang="en-US" sz="1100"/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330190" cy="364490"/>
          </a:xfrm>
        </p:spPr>
        <p:txBody>
          <a:bodyPr/>
          <a:lstStyle/>
          <a:p>
            <a:fld id="{E35D22AB-BC4C-43C9-B8BA-5BE4BF184D6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 flipH="1">
            <a:off x="5404625" y="6527310"/>
            <a:ext cx="304800" cy="0"/>
          </a:xfrm>
          <a:prstGeom prst="line">
            <a:avLst/>
          </a:prstGeom>
          <a:ln w="19050">
            <a:solidFill>
              <a:srgbClr val="23A3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 flipH="1">
            <a:off x="6467707" y="6527310"/>
            <a:ext cx="304800" cy="0"/>
          </a:xfrm>
          <a:prstGeom prst="line">
            <a:avLst/>
          </a:prstGeom>
          <a:ln w="19050">
            <a:solidFill>
              <a:srgbClr val="23A3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0" advTm="2000">
    <p:pull/>
  </p:transition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330190" cy="364490"/>
          </a:xfrm>
        </p:spPr>
        <p:txBody>
          <a:bodyPr/>
          <a:lstStyle/>
          <a:p>
            <a:fld id="{E35D22AB-BC4C-43C9-B8BA-5BE4BF184D6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330190" cy="364490"/>
          </a:xfrm>
        </p:spPr>
        <p:txBody>
          <a:bodyPr/>
          <a:lstStyle/>
          <a:p>
            <a:fld id="{E35D22AB-BC4C-43C9-B8BA-5BE4BF184D6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330190" cy="364490"/>
          </a:xfrm>
        </p:spPr>
        <p:txBody>
          <a:bodyPr/>
          <a:lstStyle/>
          <a:p>
            <a:fld id="{E35D22AB-BC4C-43C9-B8BA-5BE4BF184D6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330190" cy="364490"/>
          </a:xfrm>
        </p:spPr>
        <p:txBody>
          <a:bodyPr/>
          <a:lstStyle/>
          <a:p>
            <a:fld id="{E35D22AB-BC4C-43C9-B8BA-5BE4BF184D6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330190" cy="364490"/>
          </a:xfrm>
        </p:spPr>
        <p:txBody>
          <a:bodyPr/>
          <a:lstStyle/>
          <a:p>
            <a:fld id="{E35D22AB-BC4C-43C9-B8BA-5BE4BF184D6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330190" cy="364490"/>
          </a:xfrm>
        </p:spPr>
        <p:txBody>
          <a:bodyPr/>
          <a:lstStyle/>
          <a:p>
            <a:fld id="{E35D22AB-BC4C-43C9-B8BA-5BE4BF184D6C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49360" y="6397625"/>
            <a:ext cx="2743200" cy="365125"/>
          </a:xfrm>
        </p:spPr>
        <p:txBody>
          <a:bodyPr/>
          <a:lstStyle/>
          <a:p>
            <a:fld id="{54E6ED30-2B9E-46F0-94A2-91BE2F42A7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108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Lato Hairline"/>
                <a:cs typeface="Lato Hairline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44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 spd="med" advClick="0" advTm="2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2000">
    <p:pull/>
  </p:transition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ternal Slide Layout with Chart"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1A11722B-037A-4B42-B0EB-88DAFF51971F}"/>
              </a:ext>
            </a:extLst>
          </p:cNvPr>
          <p:cNvSpPr/>
          <p:nvPr userDrawn="1"/>
        </p:nvSpPr>
        <p:spPr>
          <a:xfrm>
            <a:off x="270934" y="232523"/>
            <a:ext cx="11650133" cy="61888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46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63709" y="6471320"/>
            <a:ext cx="322204" cy="2564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defPPr marL="0" marR="0" indent="0" algn="l" defTabSz="457177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9209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ktiv Grotesk Ex Bold"/>
              </a:defRPr>
            </a:lvl1pPr>
            <a:lvl2pPr marL="0" marR="0" indent="0" algn="l" defTabSz="1219108" rtl="0" fontAlgn="auto" latinLnBrk="0" hangingPunct="0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0" algn="l" defTabSz="1219108" rtl="0" fontAlgn="auto" latinLnBrk="0" hangingPunct="0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0" algn="l" defTabSz="1219108" rtl="0" fontAlgn="auto" latinLnBrk="0" hangingPunct="0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0" algn="l" defTabSz="1219108" rtl="0" fontAlgn="auto" latinLnBrk="0" hangingPunct="0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0" algn="l" defTabSz="1219108" rtl="0" fontAlgn="auto" latinLnBrk="0" hangingPunct="0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0" algn="l" defTabSz="1219108" rtl="0" fontAlgn="auto" latinLnBrk="0" hangingPunct="0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0" algn="l" defTabSz="1219108" rtl="0" fontAlgn="auto" latinLnBrk="0" hangingPunct="0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0" algn="l" defTabSz="1219108" rtl="0" fontAlgn="auto" latinLnBrk="0" hangingPunct="0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Lear Proprietary and Confidential: The information contained herein is the exclusive property of Lear Corporation. This date shall not be disseminated or republished without the prior written consent of Lear Corporation.">
            <a:extLst>
              <a:ext uri="{FF2B5EF4-FFF2-40B4-BE49-F238E27FC236}">
                <a16:creationId xmlns:a16="http://schemas.microsoft.com/office/drawing/2014/main" id="{F65FAF4B-AA99-2C40-A104-3F4F2124E698}"/>
              </a:ext>
            </a:extLst>
          </p:cNvPr>
          <p:cNvSpPr txBox="1"/>
          <p:nvPr userDrawn="1"/>
        </p:nvSpPr>
        <p:spPr>
          <a:xfrm>
            <a:off x="270933" y="6568782"/>
            <a:ext cx="9973884" cy="159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228597">
              <a:lnSpc>
                <a:spcPct val="100000"/>
              </a:lnSpc>
              <a:spcBef>
                <a:spcPts val="600"/>
              </a:spcBef>
              <a:defRPr sz="1400">
                <a:solidFill>
                  <a:srgbClr val="807E78"/>
                </a:solidFill>
                <a:latin typeface="Aktiv Grotesk Light"/>
                <a:ea typeface="Aktiv Grotesk Light"/>
                <a:cs typeface="Aktiv Grotesk Light"/>
                <a:sym typeface="Aktiv Grotesk Light"/>
              </a:defRPr>
            </a:pPr>
            <a:r>
              <a:rPr sz="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ktiv Grotesk Medium"/>
              </a:rPr>
              <a:t>Lear Proprietary and Confidential:</a:t>
            </a:r>
            <a:r>
              <a:rPr sz="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information contained herein is the exclusive property of Lear Corporation. This dat</a:t>
            </a:r>
            <a:r>
              <a:rPr lang="en-US" sz="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sz="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shall not be disseminated or republished without the prior written consent of Lear Corporation. </a:t>
            </a:r>
          </a:p>
        </p:txBody>
      </p:sp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82079159-18FF-924A-8B96-37951FB91A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81875"/>
            <a:ext cx="689467" cy="54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4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5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/>
              <a:t>1</a:t>
            </a:r>
          </a:p>
        </p:txBody>
      </p:sp>
    </p:spTree>
  </p:cSld>
  <p:clrMapOvr>
    <a:masterClrMapping/>
  </p:clrMapOvr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1">
              <a:rPr lang="zh-CN" altLang="en-US" smtClean="0"/>
              <a:t>2022/6/2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/>
              <a:t>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sldNum="0"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ags" Target="../tags/tag2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18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77265" y="18688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1" name="图片 10" descr="微信图片_20200709110736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278620" y="6284595"/>
            <a:ext cx="2752090" cy="503555"/>
          </a:xfrm>
          <a:prstGeom prst="rect">
            <a:avLst/>
          </a:prstGeom>
        </p:spPr>
      </p:pic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811260" y="511619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2020年7月9日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92" r:id="rId16"/>
  </p:sldLayoutIdLst>
  <p:transition spd="med" advClick="0" advTm="2000">
    <p:pull/>
  </p:transition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 descr="微信图片_20200709110736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278620" y="6284595"/>
            <a:ext cx="2752090" cy="5035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sldNum="0"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microsoft.com/download/7/f/8/7f8a9c43-8c8a-4f7c-9f92-83c18d96b681/SQL2019-SSEI-Expr.exe" TargetMode="External"/><Relationship Id="rId2" Type="http://schemas.openxmlformats.org/officeDocument/2006/relationships/hyperlink" Target="https://download.visualstudio.microsoft.com/download/pr/854cbd11-4b96-4a44-9664-b95991c0c4f7/8ec4944a5bd770faba2f769e647b1e6e/dotnet-hosting-3.1.8-win.exe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wnload.microsoft.com/download/c/7/c/c7ca93fc-3770-4e4a-8a13-1868cb309166/SSMS-Setup-ENU.ex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9465945" y="4790440"/>
            <a:ext cx="21463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C9C81"/>
                </a:solidFill>
              </a14:hiddenFill>
            </a:ext>
          </a:ex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algn="r"/>
            <a:endParaRPr lang="zh-CN" altLang="en-US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algn="r"/>
            <a:fld id="{BB962C8B-B14F-4D97-AF65-F5344CB8AC3E}" type="datetime1"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2022/6/2</a:t>
            </a:fld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26235" y="2257910"/>
            <a:ext cx="7839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charset="-122"/>
                <a:ea typeface="Arial Unicode MS" panose="020B0604020202020204" charset="-122"/>
                <a:cs typeface="+mn-ea"/>
                <a:sym typeface="+mn-lt"/>
              </a:rPr>
              <a:t> FEA Demo </a:t>
            </a:r>
          </a:p>
          <a:p>
            <a:pPr algn="ctr"/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charset="-122"/>
                <a:ea typeface="Arial Unicode MS" panose="020B0604020202020204" charset="-122"/>
                <a:cs typeface="+mn-ea"/>
                <a:sym typeface="+mn-lt"/>
              </a:rPr>
              <a:t>Install the Restore Guide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charset="-122"/>
              <a:ea typeface="Arial Unicode MS" panose="020B0604020202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56360" y="6337935"/>
            <a:ext cx="271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71065" y="6628130"/>
            <a:ext cx="63703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©2020  </a:t>
            </a:r>
            <a:r>
              <a:rPr lang="zh-CN" altLang="en-US" sz="90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Shanghai Hourglass Engineering Software Ltd.</a:t>
            </a:r>
          </a:p>
        </p:txBody>
      </p:sp>
    </p:spTree>
    <p:extLst>
      <p:ext uri="{BB962C8B-B14F-4D97-AF65-F5344CB8AC3E}">
        <p14:creationId xmlns:p14="http://schemas.microsoft.com/office/powerpoint/2010/main" val="149015472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56360" y="6337935"/>
            <a:ext cx="271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71065" y="6628130"/>
            <a:ext cx="63703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©2020  </a:t>
            </a:r>
            <a:r>
              <a:rPr lang="zh-CN" altLang="en-US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Shanghai Hourglass Engineering Software Ltd.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5204B3B-F58B-8BAB-F364-412FCB2BA822}"/>
              </a:ext>
            </a:extLst>
          </p:cNvPr>
          <p:cNvGrpSpPr/>
          <p:nvPr/>
        </p:nvGrpSpPr>
        <p:grpSpPr>
          <a:xfrm>
            <a:off x="-245110" y="264160"/>
            <a:ext cx="7412355" cy="589624"/>
            <a:chOff x="-360" y="432"/>
            <a:chExt cx="4833" cy="2226"/>
          </a:xfrm>
        </p:grpSpPr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35F67B21-90C8-F6D3-8CBC-DA2D90E794F7}"/>
                </a:ext>
              </a:extLst>
            </p:cNvPr>
            <p:cNvSpPr/>
            <p:nvPr/>
          </p:nvSpPr>
          <p:spPr>
            <a:xfrm>
              <a:off x="-360" y="432"/>
              <a:ext cx="1891" cy="727"/>
            </a:xfrm>
            <a:prstGeom prst="parallelogram">
              <a:avLst/>
            </a:prstGeom>
            <a:solidFill>
              <a:srgbClr val="FFB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" name="矩形 259">
              <a:extLst>
                <a:ext uri="{FF2B5EF4-FFF2-40B4-BE49-F238E27FC236}">
                  <a16:creationId xmlns:a16="http://schemas.microsoft.com/office/drawing/2014/main" id="{16F08BD9-40F1-79BD-87E2-12B999E95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505"/>
              <a:ext cx="2801" cy="2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9pPr>
            </a:lstStyle>
            <a:p>
              <a:pPr marR="0" lvl="0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None/>
                <a:tabLst/>
                <a:defRPr/>
              </a:pPr>
              <a:r>
                <a:rPr lang="en-US" altLang="zh-CN" sz="2800" b="1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16383CF-15BC-A9C4-8D0D-380AD1DC835C}"/>
              </a:ext>
            </a:extLst>
          </p:cNvPr>
          <p:cNvGrpSpPr/>
          <p:nvPr/>
        </p:nvGrpSpPr>
        <p:grpSpPr>
          <a:xfrm>
            <a:off x="2253296" y="1354035"/>
            <a:ext cx="9360000" cy="712247"/>
            <a:chOff x="372030" y="4850353"/>
            <a:chExt cx="7992888" cy="712247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6EBDF0F-8F9B-E96B-B24F-B6BBE7ED6F2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45C3414C-114B-B370-2064-29A1D24F891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D9DB92D-0B11-3E85-9FB4-2888F3A0E3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rgbClr val="FFC000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1</a:t>
                </a:r>
                <a:endParaRPr kumimoji="1" lang="zh-CN" altLang="en-US" sz="6600" b="1" spc="100" dirty="0">
                  <a:solidFill>
                    <a:srgbClr val="FFC000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60979FD-BBE4-E7D5-D14B-39803E9AAD8E}"/>
                </a:ext>
              </a:extLst>
            </p:cNvPr>
            <p:cNvSpPr/>
            <p:nvPr/>
          </p:nvSpPr>
          <p:spPr>
            <a:xfrm>
              <a:off x="1447800" y="4953000"/>
              <a:ext cx="691711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800" b="1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Environmental And runtime list</a:t>
              </a:r>
            </a:p>
          </p:txBody>
        </p:sp>
        <p:cxnSp>
          <p:nvCxnSpPr>
            <p:cNvPr id="14" name="直线连接符 9">
              <a:extLst>
                <a:ext uri="{FF2B5EF4-FFF2-40B4-BE49-F238E27FC236}">
                  <a16:creationId xmlns:a16="http://schemas.microsoft.com/office/drawing/2014/main" id="{141073CB-9B00-1A87-EA0F-3B1D2963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58902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05BA126-237E-28BA-6634-E0094F6EC0C6}"/>
              </a:ext>
            </a:extLst>
          </p:cNvPr>
          <p:cNvGrpSpPr/>
          <p:nvPr/>
        </p:nvGrpSpPr>
        <p:grpSpPr>
          <a:xfrm>
            <a:off x="2253296" y="2369434"/>
            <a:ext cx="9360000" cy="712247"/>
            <a:chOff x="372030" y="4850353"/>
            <a:chExt cx="7886408" cy="712247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246E1F9-0E1C-F7F2-3D87-05AFDFA6386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DB8F4E62-CD27-DB87-0B04-74E4F0F1EAFA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60C9E31-BAE4-AD15-93DD-AB8F56A2F2E3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2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8F568D0-C381-979D-D48B-FBAB4CBAAFF0}"/>
                </a:ext>
              </a:extLst>
            </p:cNvPr>
            <p:cNvSpPr/>
            <p:nvPr/>
          </p:nvSpPr>
          <p:spPr>
            <a:xfrm>
              <a:off x="1447800" y="4953000"/>
              <a:ext cx="681063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Windows server settings and IIS installation</a:t>
              </a:r>
            </a:p>
          </p:txBody>
        </p:sp>
        <p:cxnSp>
          <p:nvCxnSpPr>
            <p:cNvPr id="20" name="直线连接符 15">
              <a:extLst>
                <a:ext uri="{FF2B5EF4-FFF2-40B4-BE49-F238E27FC236}">
                  <a16:creationId xmlns:a16="http://schemas.microsoft.com/office/drawing/2014/main" id="{D4192CCC-18A4-0E9E-653F-6A64EB703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6516F6-8926-6C99-E684-4AEF7E1FF857}"/>
              </a:ext>
            </a:extLst>
          </p:cNvPr>
          <p:cNvGrpSpPr/>
          <p:nvPr/>
        </p:nvGrpSpPr>
        <p:grpSpPr>
          <a:xfrm>
            <a:off x="2253296" y="3384833"/>
            <a:ext cx="9360000" cy="712247"/>
            <a:chOff x="372030" y="4850353"/>
            <a:chExt cx="7886408" cy="712247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8424C88-D3F9-AECE-7F71-467BACE03203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9E3F81D4-0CD1-68DB-C702-131695762F4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E7E2F40-9591-13EB-4289-EEF1790CD1E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3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C7BE7AC-F6AD-72CE-8B28-5A00FA3C3D96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Runtime installation</a:t>
              </a:r>
            </a:p>
          </p:txBody>
        </p:sp>
        <p:cxnSp>
          <p:nvCxnSpPr>
            <p:cNvPr id="27" name="直线连接符 21">
              <a:extLst>
                <a:ext uri="{FF2B5EF4-FFF2-40B4-BE49-F238E27FC236}">
                  <a16:creationId xmlns:a16="http://schemas.microsoft.com/office/drawing/2014/main" id="{BD1FE8AB-F630-C709-66AB-32D2E80F3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18">
            <a:extLst>
              <a:ext uri="{FF2B5EF4-FFF2-40B4-BE49-F238E27FC236}">
                <a16:creationId xmlns:a16="http://schemas.microsoft.com/office/drawing/2014/main" id="{05472E26-632B-FBE1-186F-09E89B3FBD38}"/>
              </a:ext>
            </a:extLst>
          </p:cNvPr>
          <p:cNvGrpSpPr/>
          <p:nvPr/>
        </p:nvGrpSpPr>
        <p:grpSpPr>
          <a:xfrm>
            <a:off x="2253296" y="4400232"/>
            <a:ext cx="9360000" cy="712247"/>
            <a:chOff x="372030" y="4850353"/>
            <a:chExt cx="7886408" cy="712247"/>
          </a:xfrm>
        </p:grpSpPr>
        <p:grpSp>
          <p:nvGrpSpPr>
            <p:cNvPr id="31" name="组合 19">
              <a:extLst>
                <a:ext uri="{FF2B5EF4-FFF2-40B4-BE49-F238E27FC236}">
                  <a16:creationId xmlns:a16="http://schemas.microsoft.com/office/drawing/2014/main" id="{BA4ED4F7-5F33-390B-EADB-DF75DBA82CB6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34" name="平行四边形 22">
                <a:extLst>
                  <a:ext uri="{FF2B5EF4-FFF2-40B4-BE49-F238E27FC236}">
                    <a16:creationId xmlns:a16="http://schemas.microsoft.com/office/drawing/2014/main" id="{CE6DC3EE-2405-4A34-5C7B-5EEFC082C1B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35" name="矩形 23">
                <a:extLst>
                  <a:ext uri="{FF2B5EF4-FFF2-40B4-BE49-F238E27FC236}">
                    <a16:creationId xmlns:a16="http://schemas.microsoft.com/office/drawing/2014/main" id="{239F5E58-038B-E2C4-F47E-3D3EC0CE3DF2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4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矩形 20">
              <a:extLst>
                <a:ext uri="{FF2B5EF4-FFF2-40B4-BE49-F238E27FC236}">
                  <a16:creationId xmlns:a16="http://schemas.microsoft.com/office/drawing/2014/main" id="{72C6E30C-6290-8F1F-2037-EDC09618813C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MSSQL</a:t>
              </a:r>
              <a:r>
                <a:rPr kumimoji="1" lang="zh-CN" altLang="en-US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And SSMS </a:t>
              </a: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installation</a:t>
              </a:r>
              <a:endParaRPr kumimoji="1" lang="zh-CN" altLang="en-US" sz="2800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线连接符 21">
              <a:extLst>
                <a:ext uri="{FF2B5EF4-FFF2-40B4-BE49-F238E27FC236}">
                  <a16:creationId xmlns:a16="http://schemas.microsoft.com/office/drawing/2014/main" id="{E32E963B-1F9D-0FF4-1D4E-6E52CAD20C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18">
            <a:extLst>
              <a:ext uri="{FF2B5EF4-FFF2-40B4-BE49-F238E27FC236}">
                <a16:creationId xmlns:a16="http://schemas.microsoft.com/office/drawing/2014/main" id="{11AF83DD-A392-2B7A-A924-A123B3E26022}"/>
              </a:ext>
            </a:extLst>
          </p:cNvPr>
          <p:cNvGrpSpPr/>
          <p:nvPr/>
        </p:nvGrpSpPr>
        <p:grpSpPr>
          <a:xfrm>
            <a:off x="2253296" y="5415631"/>
            <a:ext cx="9360000" cy="712247"/>
            <a:chOff x="372030" y="4850353"/>
            <a:chExt cx="7886408" cy="712247"/>
          </a:xfrm>
        </p:grpSpPr>
        <p:grpSp>
          <p:nvGrpSpPr>
            <p:cNvPr id="37" name="组合 19">
              <a:extLst>
                <a:ext uri="{FF2B5EF4-FFF2-40B4-BE49-F238E27FC236}">
                  <a16:creationId xmlns:a16="http://schemas.microsoft.com/office/drawing/2014/main" id="{9656BAD4-3173-C2BA-AD71-47381804199D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40" name="平行四边形 22">
                <a:extLst>
                  <a:ext uri="{FF2B5EF4-FFF2-40B4-BE49-F238E27FC236}">
                    <a16:creationId xmlns:a16="http://schemas.microsoft.com/office/drawing/2014/main" id="{F6328D7B-CD0F-2420-3ECF-0474FCE41673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41" name="矩形 23">
                <a:extLst>
                  <a:ext uri="{FF2B5EF4-FFF2-40B4-BE49-F238E27FC236}">
                    <a16:creationId xmlns:a16="http://schemas.microsoft.com/office/drawing/2014/main" id="{9E98420C-C4D4-54C5-6B7D-34CACC3644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5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8" name="矩形 20">
              <a:extLst>
                <a:ext uri="{FF2B5EF4-FFF2-40B4-BE49-F238E27FC236}">
                  <a16:creationId xmlns:a16="http://schemas.microsoft.com/office/drawing/2014/main" id="{33E41674-F618-C5ED-FF00-F57D3A41566F}"/>
                </a:ext>
              </a:extLst>
            </p:cNvPr>
            <p:cNvSpPr/>
            <p:nvPr/>
          </p:nvSpPr>
          <p:spPr>
            <a:xfrm>
              <a:off x="1447800" y="4953000"/>
              <a:ext cx="6737743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Platform installation Restore data DEMO</a:t>
              </a:r>
              <a:endParaRPr kumimoji="1" lang="zh-CN" altLang="en-US" sz="2800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线连接符 21">
              <a:extLst>
                <a:ext uri="{FF2B5EF4-FFF2-40B4-BE49-F238E27FC236}">
                  <a16:creationId xmlns:a16="http://schemas.microsoft.com/office/drawing/2014/main" id="{2724CA1C-C6B9-6BC4-D446-DEC0C655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824493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72F992F-4B6C-83D3-F4E4-5EEA218E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774"/>
          </a:xfrm>
        </p:spPr>
        <p:txBody>
          <a:bodyPr/>
          <a:lstStyle/>
          <a:p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Environmental And runtime list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E11A9D-3156-0D43-3BF1-240EACC2B74D}"/>
              </a:ext>
            </a:extLst>
          </p:cNvPr>
          <p:cNvSpPr/>
          <p:nvPr/>
        </p:nvSpPr>
        <p:spPr>
          <a:xfrm>
            <a:off x="5147781" y="1881369"/>
            <a:ext cx="6246687" cy="708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zh-CN" dirty="0"/>
              <a:t>Details [Aras Innovator 15 - Installation Guide</a:t>
            </a:r>
            <a:r>
              <a:rPr lang="en-US" altLang="zh-CN" dirty="0"/>
              <a:t>.pdf]</a:t>
            </a:r>
            <a:br>
              <a:rPr lang="en-US" altLang="zh-CN" dirty="0"/>
            </a:br>
            <a:r>
              <a:rPr lang="en-US" altLang="zh-CN" dirty="0"/>
              <a:t>2.1.2 Server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9FD044-1634-8CEA-3392-1A7F60ECE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01" y="1543540"/>
            <a:ext cx="4213280" cy="443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02608"/>
      </p:ext>
    </p:extLst>
  </p:cSld>
  <p:clrMapOvr>
    <a:masterClrMapping/>
  </p:clrMapOvr>
  <p:transition spd="med" advClick="0" advTm="2000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72F992F-4B6C-83D3-F4E4-5EEA218E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774"/>
          </a:xfrm>
        </p:spPr>
        <p:txBody>
          <a:bodyPr/>
          <a:lstStyle/>
          <a:p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Environmental And runtime list</a:t>
            </a:r>
            <a:endParaRPr lang="zh-CN" altLang="en-US" dirty="0"/>
          </a:p>
        </p:txBody>
      </p:sp>
      <p:graphicFrame>
        <p:nvGraphicFramePr>
          <p:cNvPr id="16" name="表格 6">
            <a:extLst>
              <a:ext uri="{FF2B5EF4-FFF2-40B4-BE49-F238E27FC236}">
                <a16:creationId xmlns:a16="http://schemas.microsoft.com/office/drawing/2014/main" id="{8EBD28CD-F2E7-8A7B-D5BE-FA2AC4B5C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765775"/>
              </p:ext>
            </p:extLst>
          </p:nvPr>
        </p:nvGraphicFramePr>
        <p:xfrm>
          <a:off x="919536" y="1364892"/>
          <a:ext cx="1020737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28">
                  <a:extLst>
                    <a:ext uri="{9D8B030D-6E8A-4147-A177-3AD203B41FA5}">
                      <a16:colId xmlns:a16="http://schemas.microsoft.com/office/drawing/2014/main" val="1673800221"/>
                    </a:ext>
                  </a:extLst>
                </a:gridCol>
                <a:gridCol w="7335748">
                  <a:extLst>
                    <a:ext uri="{9D8B030D-6E8A-4147-A177-3AD203B41FA5}">
                      <a16:colId xmlns:a16="http://schemas.microsoft.com/office/drawing/2014/main" val="3555550770"/>
                    </a:ext>
                  </a:extLst>
                </a:gridCol>
              </a:tblGrid>
              <a:tr h="331492">
                <a:tc gridSpan="2">
                  <a:txBody>
                    <a:bodyPr/>
                    <a:lstStyle/>
                    <a:p>
                      <a:r>
                        <a:rPr lang="en-US" altLang="zh-CN" dirty="0"/>
                        <a:t>This demo environmental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236188"/>
                  </a:ext>
                </a:extLst>
              </a:tr>
              <a:tr h="331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Windows Server 2019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Prepare in advance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935165"/>
                  </a:ext>
                </a:extLst>
              </a:tr>
              <a:tr h="331492">
                <a:tc>
                  <a:txBody>
                    <a:bodyPr/>
                    <a:lstStyle/>
                    <a:p>
                      <a:r>
                        <a:rPr lang="en-US" altLang="zh-CN" dirty="0"/>
                        <a:t>MS Internet Information Server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Windows Server Add Roles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34792"/>
                  </a:ext>
                </a:extLst>
              </a:tr>
              <a:tr h="331492">
                <a:tc>
                  <a:txBody>
                    <a:bodyPr/>
                    <a:lstStyle/>
                    <a:p>
                      <a:r>
                        <a:rPr lang="en-US" altLang="zh-CN" dirty="0"/>
                        <a:t>.NET Framework 4.7.2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Windows Server comes with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729768"/>
                  </a:ext>
                </a:extLst>
              </a:tr>
              <a:tr h="331492">
                <a:tc>
                  <a:txBody>
                    <a:bodyPr/>
                    <a:lstStyle/>
                    <a:p>
                      <a:r>
                        <a:rPr lang="en-US" altLang="zh-CN" dirty="0"/>
                        <a:t>ASP.NET Core/.NET Core Runtime and Hosting Bundle</a:t>
                      </a:r>
                    </a:p>
                    <a:p>
                      <a:r>
                        <a:rPr lang="en-US" altLang="zh-CN" dirty="0"/>
                        <a:t>3.1.8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Need to download</a:t>
                      </a:r>
                    </a:p>
                    <a:p>
                      <a:r>
                        <a:rPr lang="en-US" altLang="zh-CN" dirty="0">
                          <a:hlinkClick r:id="rId2"/>
                        </a:rPr>
                        <a:t>https://download.visualstudio.microsoft.com/download/pr/854cbd11-4b96-4a44-9664-b95991c0c4f7/8ec4944a5bd770faba2f769e647b1e6e/dotnet-hosting-3.1.8-win.exe</a:t>
                      </a: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82555"/>
                  </a:ext>
                </a:extLst>
              </a:tr>
              <a:tr h="331492">
                <a:tc>
                  <a:txBody>
                    <a:bodyPr/>
                    <a:lstStyle/>
                    <a:p>
                      <a:r>
                        <a:rPr lang="en-US" altLang="zh-CN" dirty="0"/>
                        <a:t>MS SQL Server 2019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Need to download</a:t>
                      </a:r>
                    </a:p>
                    <a:p>
                      <a:r>
                        <a:rPr lang="en-US" altLang="zh-CN" dirty="0">
                          <a:hlinkClick r:id="rId3"/>
                        </a:rPr>
                        <a:t>https://download.microsoft.com/download/7/f/8/7f8a9c43-8c8a-4f7c-9f92-83c18d96b681/SQL2019-SSEI-Expr.exe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336389"/>
                  </a:ext>
                </a:extLst>
              </a:tr>
              <a:tr h="331492">
                <a:tc>
                  <a:txBody>
                    <a:bodyPr/>
                    <a:lstStyle/>
                    <a:p>
                      <a:r>
                        <a:rPr lang="en-US" altLang="zh-CN" dirty="0"/>
                        <a:t>SSMS-Setup-ENU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Need to download</a:t>
                      </a:r>
                      <a:br>
                        <a:rPr lang="en-US" altLang="zh-CN" dirty="0"/>
                      </a:br>
                      <a:r>
                        <a:rPr lang="en-US" altLang="zh-CN" dirty="0">
                          <a:hlinkClick r:id="rId4"/>
                        </a:rPr>
                        <a:t>https://download.microsoft.com/download/c/7/c/c7ca93fc-3770-4e4a-8a13-1868cb309166/SSMS-Setup-ENU.exe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7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786746"/>
      </p:ext>
    </p:extLst>
  </p:cSld>
  <p:clrMapOvr>
    <a:masterClrMapping/>
  </p:clrMapOvr>
  <p:transition spd="med" advClick="0" advTm="2000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56360" y="6337935"/>
            <a:ext cx="271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71065" y="6628130"/>
            <a:ext cx="63703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©2020  </a:t>
            </a:r>
            <a:r>
              <a:rPr lang="zh-CN" altLang="en-US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Shanghai Hourglass Engineering Software Ltd.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5204B3B-F58B-8BAB-F364-412FCB2BA822}"/>
              </a:ext>
            </a:extLst>
          </p:cNvPr>
          <p:cNvGrpSpPr/>
          <p:nvPr/>
        </p:nvGrpSpPr>
        <p:grpSpPr>
          <a:xfrm>
            <a:off x="-245110" y="264160"/>
            <a:ext cx="7412355" cy="589624"/>
            <a:chOff x="-360" y="432"/>
            <a:chExt cx="4833" cy="2226"/>
          </a:xfrm>
        </p:grpSpPr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35F67B21-90C8-F6D3-8CBC-DA2D90E794F7}"/>
                </a:ext>
              </a:extLst>
            </p:cNvPr>
            <p:cNvSpPr/>
            <p:nvPr/>
          </p:nvSpPr>
          <p:spPr>
            <a:xfrm>
              <a:off x="-360" y="432"/>
              <a:ext cx="1891" cy="727"/>
            </a:xfrm>
            <a:prstGeom prst="parallelogram">
              <a:avLst/>
            </a:prstGeom>
            <a:solidFill>
              <a:srgbClr val="FFB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" name="矩形 259">
              <a:extLst>
                <a:ext uri="{FF2B5EF4-FFF2-40B4-BE49-F238E27FC236}">
                  <a16:creationId xmlns:a16="http://schemas.microsoft.com/office/drawing/2014/main" id="{16F08BD9-40F1-79BD-87E2-12B999E95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505"/>
              <a:ext cx="2801" cy="2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9pPr>
            </a:lstStyle>
            <a:p>
              <a:pPr marR="0" lvl="0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None/>
                <a:tabLst/>
                <a:defRPr/>
              </a:pPr>
              <a:r>
                <a:rPr lang="en-US" altLang="zh-CN" sz="2800" b="1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16383CF-15BC-A9C4-8D0D-380AD1DC835C}"/>
              </a:ext>
            </a:extLst>
          </p:cNvPr>
          <p:cNvGrpSpPr/>
          <p:nvPr/>
        </p:nvGrpSpPr>
        <p:grpSpPr>
          <a:xfrm>
            <a:off x="2253296" y="1354035"/>
            <a:ext cx="9360000" cy="712247"/>
            <a:chOff x="372030" y="4850353"/>
            <a:chExt cx="7992888" cy="712247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6EBDF0F-8F9B-E96B-B24F-B6BBE7ED6F2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45C3414C-114B-B370-2064-29A1D24F891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D9DB92D-0B11-3E85-9FB4-2888F3A0E3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1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60979FD-BBE4-E7D5-D14B-39803E9AAD8E}"/>
                </a:ext>
              </a:extLst>
            </p:cNvPr>
            <p:cNvSpPr/>
            <p:nvPr/>
          </p:nvSpPr>
          <p:spPr>
            <a:xfrm>
              <a:off x="1447800" y="4953000"/>
              <a:ext cx="691711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Environmental And runtime list</a:t>
              </a:r>
            </a:p>
          </p:txBody>
        </p:sp>
        <p:cxnSp>
          <p:nvCxnSpPr>
            <p:cNvPr id="14" name="直线连接符 9">
              <a:extLst>
                <a:ext uri="{FF2B5EF4-FFF2-40B4-BE49-F238E27FC236}">
                  <a16:creationId xmlns:a16="http://schemas.microsoft.com/office/drawing/2014/main" id="{141073CB-9B00-1A87-EA0F-3B1D2963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58902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05BA126-237E-28BA-6634-E0094F6EC0C6}"/>
              </a:ext>
            </a:extLst>
          </p:cNvPr>
          <p:cNvGrpSpPr/>
          <p:nvPr/>
        </p:nvGrpSpPr>
        <p:grpSpPr>
          <a:xfrm>
            <a:off x="2253296" y="2369434"/>
            <a:ext cx="9360000" cy="712247"/>
            <a:chOff x="372030" y="4850353"/>
            <a:chExt cx="7886408" cy="712247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246E1F9-0E1C-F7F2-3D87-05AFDFA6386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DB8F4E62-CD27-DB87-0B04-74E4F0F1EAFA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60C9E31-BAE4-AD15-93DD-AB8F56A2F2E3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rgbClr val="FFB419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2</a:t>
                </a:r>
                <a:endParaRPr kumimoji="1" lang="zh-CN" altLang="en-US" sz="6600" b="1" spc="100" dirty="0">
                  <a:solidFill>
                    <a:srgbClr val="FFB419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8F568D0-C381-979D-D48B-FBAB4CBAAFF0}"/>
                </a:ext>
              </a:extLst>
            </p:cNvPr>
            <p:cNvSpPr/>
            <p:nvPr/>
          </p:nvSpPr>
          <p:spPr>
            <a:xfrm>
              <a:off x="1447800" y="4953000"/>
              <a:ext cx="681063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b="1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Windows server settings and IIS installation</a:t>
              </a:r>
            </a:p>
          </p:txBody>
        </p:sp>
        <p:cxnSp>
          <p:nvCxnSpPr>
            <p:cNvPr id="20" name="直线连接符 15">
              <a:extLst>
                <a:ext uri="{FF2B5EF4-FFF2-40B4-BE49-F238E27FC236}">
                  <a16:creationId xmlns:a16="http://schemas.microsoft.com/office/drawing/2014/main" id="{D4192CCC-18A4-0E9E-653F-6A64EB703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6516F6-8926-6C99-E684-4AEF7E1FF857}"/>
              </a:ext>
            </a:extLst>
          </p:cNvPr>
          <p:cNvGrpSpPr/>
          <p:nvPr/>
        </p:nvGrpSpPr>
        <p:grpSpPr>
          <a:xfrm>
            <a:off x="2253296" y="3384833"/>
            <a:ext cx="9360000" cy="712247"/>
            <a:chOff x="372030" y="4850353"/>
            <a:chExt cx="7886408" cy="712247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8424C88-D3F9-AECE-7F71-467BACE03203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9E3F81D4-0CD1-68DB-C702-131695762F4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E7E2F40-9591-13EB-4289-EEF1790CD1E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3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C7BE7AC-F6AD-72CE-8B28-5A00FA3C3D96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Runtime installation</a:t>
              </a:r>
            </a:p>
          </p:txBody>
        </p:sp>
        <p:cxnSp>
          <p:nvCxnSpPr>
            <p:cNvPr id="27" name="直线连接符 21">
              <a:extLst>
                <a:ext uri="{FF2B5EF4-FFF2-40B4-BE49-F238E27FC236}">
                  <a16:creationId xmlns:a16="http://schemas.microsoft.com/office/drawing/2014/main" id="{BD1FE8AB-F630-C709-66AB-32D2E80F3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18">
            <a:extLst>
              <a:ext uri="{FF2B5EF4-FFF2-40B4-BE49-F238E27FC236}">
                <a16:creationId xmlns:a16="http://schemas.microsoft.com/office/drawing/2014/main" id="{05472E26-632B-FBE1-186F-09E89B3FBD38}"/>
              </a:ext>
            </a:extLst>
          </p:cNvPr>
          <p:cNvGrpSpPr/>
          <p:nvPr/>
        </p:nvGrpSpPr>
        <p:grpSpPr>
          <a:xfrm>
            <a:off x="2253296" y="4400232"/>
            <a:ext cx="9360000" cy="712247"/>
            <a:chOff x="372030" y="4850353"/>
            <a:chExt cx="7886408" cy="712247"/>
          </a:xfrm>
        </p:grpSpPr>
        <p:grpSp>
          <p:nvGrpSpPr>
            <p:cNvPr id="31" name="组合 19">
              <a:extLst>
                <a:ext uri="{FF2B5EF4-FFF2-40B4-BE49-F238E27FC236}">
                  <a16:creationId xmlns:a16="http://schemas.microsoft.com/office/drawing/2014/main" id="{BA4ED4F7-5F33-390B-EADB-DF75DBA82CB6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34" name="平行四边形 22">
                <a:extLst>
                  <a:ext uri="{FF2B5EF4-FFF2-40B4-BE49-F238E27FC236}">
                    <a16:creationId xmlns:a16="http://schemas.microsoft.com/office/drawing/2014/main" id="{CE6DC3EE-2405-4A34-5C7B-5EEFC082C1B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35" name="矩形 23">
                <a:extLst>
                  <a:ext uri="{FF2B5EF4-FFF2-40B4-BE49-F238E27FC236}">
                    <a16:creationId xmlns:a16="http://schemas.microsoft.com/office/drawing/2014/main" id="{239F5E58-038B-E2C4-F47E-3D3EC0CE3DF2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4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矩形 20">
              <a:extLst>
                <a:ext uri="{FF2B5EF4-FFF2-40B4-BE49-F238E27FC236}">
                  <a16:creationId xmlns:a16="http://schemas.microsoft.com/office/drawing/2014/main" id="{72C6E30C-6290-8F1F-2037-EDC09618813C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MSSQL</a:t>
              </a:r>
              <a:r>
                <a:rPr kumimoji="1" lang="zh-CN" altLang="en-US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And SSMS </a:t>
              </a: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installation</a:t>
              </a:r>
              <a:endParaRPr kumimoji="1" lang="zh-CN" altLang="en-US" sz="2800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线连接符 21">
              <a:extLst>
                <a:ext uri="{FF2B5EF4-FFF2-40B4-BE49-F238E27FC236}">
                  <a16:creationId xmlns:a16="http://schemas.microsoft.com/office/drawing/2014/main" id="{E32E963B-1F9D-0FF4-1D4E-6E52CAD20C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18">
            <a:extLst>
              <a:ext uri="{FF2B5EF4-FFF2-40B4-BE49-F238E27FC236}">
                <a16:creationId xmlns:a16="http://schemas.microsoft.com/office/drawing/2014/main" id="{11AF83DD-A392-2B7A-A924-A123B3E26022}"/>
              </a:ext>
            </a:extLst>
          </p:cNvPr>
          <p:cNvGrpSpPr/>
          <p:nvPr/>
        </p:nvGrpSpPr>
        <p:grpSpPr>
          <a:xfrm>
            <a:off x="2253296" y="5415631"/>
            <a:ext cx="9360000" cy="712247"/>
            <a:chOff x="372030" y="4850353"/>
            <a:chExt cx="7886408" cy="712247"/>
          </a:xfrm>
        </p:grpSpPr>
        <p:grpSp>
          <p:nvGrpSpPr>
            <p:cNvPr id="37" name="组合 19">
              <a:extLst>
                <a:ext uri="{FF2B5EF4-FFF2-40B4-BE49-F238E27FC236}">
                  <a16:creationId xmlns:a16="http://schemas.microsoft.com/office/drawing/2014/main" id="{9656BAD4-3173-C2BA-AD71-47381804199D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40" name="平行四边形 22">
                <a:extLst>
                  <a:ext uri="{FF2B5EF4-FFF2-40B4-BE49-F238E27FC236}">
                    <a16:creationId xmlns:a16="http://schemas.microsoft.com/office/drawing/2014/main" id="{F6328D7B-CD0F-2420-3ECF-0474FCE41673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41" name="矩形 23">
                <a:extLst>
                  <a:ext uri="{FF2B5EF4-FFF2-40B4-BE49-F238E27FC236}">
                    <a16:creationId xmlns:a16="http://schemas.microsoft.com/office/drawing/2014/main" id="{9E98420C-C4D4-54C5-6B7D-34CACC3644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5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8" name="矩形 20">
              <a:extLst>
                <a:ext uri="{FF2B5EF4-FFF2-40B4-BE49-F238E27FC236}">
                  <a16:creationId xmlns:a16="http://schemas.microsoft.com/office/drawing/2014/main" id="{33E41674-F618-C5ED-FF00-F57D3A41566F}"/>
                </a:ext>
              </a:extLst>
            </p:cNvPr>
            <p:cNvSpPr/>
            <p:nvPr/>
          </p:nvSpPr>
          <p:spPr>
            <a:xfrm>
              <a:off x="1447800" y="4953000"/>
              <a:ext cx="6743366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Platform installation Restore data DEMO</a:t>
              </a:r>
              <a:endParaRPr kumimoji="1" lang="zh-CN" altLang="en-US" sz="2800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线连接符 21">
              <a:extLst>
                <a:ext uri="{FF2B5EF4-FFF2-40B4-BE49-F238E27FC236}">
                  <a16:creationId xmlns:a16="http://schemas.microsoft.com/office/drawing/2014/main" id="{2724CA1C-C6B9-6BC4-D446-DEC0C655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321600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03F15-5A74-4524-449B-F32A7D45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 server settings and IIS installation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465436-3C41-7708-7FE2-028AA01D0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2260"/>
            <a:ext cx="7096716" cy="429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10545"/>
      </p:ext>
    </p:extLst>
  </p:cSld>
  <p:clrMapOvr>
    <a:masterClrMapping/>
  </p:clrMapOvr>
  <p:transition spd="med" advClick="0" advTm="2000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03F15-5A74-4524-449B-F32A7D45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 server settings and IIS installation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35A348-1A10-96A2-6C15-5A6A21EFA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5746"/>
            <a:ext cx="6763280" cy="498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31166"/>
      </p:ext>
    </p:extLst>
  </p:cSld>
  <p:clrMapOvr>
    <a:masterClrMapping/>
  </p:clrMapOvr>
  <p:transition spd="med" advClick="0" advTm="2000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03F15-5A74-4524-449B-F32A7D45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 server settings and IIS installation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5C3973-153B-30CC-25CA-8B53052BF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98" y="1690689"/>
            <a:ext cx="6145222" cy="45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0999"/>
      </p:ext>
    </p:extLst>
  </p:cSld>
  <p:clrMapOvr>
    <a:masterClrMapping/>
  </p:clrMapOvr>
  <p:transition spd="med" advClick="0" advTm="2000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03F15-5A74-4524-449B-F32A7D45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 server settings and IIS installation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2A643AC-E9EC-4296-9FAD-3CF061678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92" y="1690688"/>
            <a:ext cx="5929497" cy="434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21766"/>
      </p:ext>
    </p:extLst>
  </p:cSld>
  <p:clrMapOvr>
    <a:masterClrMapping/>
  </p:clrMapOvr>
  <p:transition spd="med" advClick="0" advTm="2000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03F15-5A74-4524-449B-F32A7D45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 server settings and IIS installation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5F400F-47B4-A394-D136-36513A2E8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06" y="1690688"/>
            <a:ext cx="5141594" cy="419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61641"/>
      </p:ext>
    </p:extLst>
  </p:cSld>
  <p:clrMapOvr>
    <a:masterClrMapping/>
  </p:clrMapOvr>
  <p:transition spd="med" advClick="0" advTm="2000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56360" y="6337935"/>
            <a:ext cx="271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71065" y="6628130"/>
            <a:ext cx="63703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©2020  </a:t>
            </a:r>
            <a:r>
              <a:rPr lang="zh-CN" altLang="en-US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Shanghai Hourglass Engineering Software Ltd.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5204B3B-F58B-8BAB-F364-412FCB2BA822}"/>
              </a:ext>
            </a:extLst>
          </p:cNvPr>
          <p:cNvGrpSpPr/>
          <p:nvPr/>
        </p:nvGrpSpPr>
        <p:grpSpPr>
          <a:xfrm>
            <a:off x="-245110" y="264160"/>
            <a:ext cx="7412355" cy="589624"/>
            <a:chOff x="-360" y="432"/>
            <a:chExt cx="4833" cy="2226"/>
          </a:xfrm>
        </p:grpSpPr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35F67B21-90C8-F6D3-8CBC-DA2D90E794F7}"/>
                </a:ext>
              </a:extLst>
            </p:cNvPr>
            <p:cNvSpPr/>
            <p:nvPr/>
          </p:nvSpPr>
          <p:spPr>
            <a:xfrm>
              <a:off x="-360" y="432"/>
              <a:ext cx="1891" cy="727"/>
            </a:xfrm>
            <a:prstGeom prst="parallelogram">
              <a:avLst/>
            </a:prstGeom>
            <a:solidFill>
              <a:srgbClr val="FFB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" name="矩形 259">
              <a:extLst>
                <a:ext uri="{FF2B5EF4-FFF2-40B4-BE49-F238E27FC236}">
                  <a16:creationId xmlns:a16="http://schemas.microsoft.com/office/drawing/2014/main" id="{16F08BD9-40F1-79BD-87E2-12B999E95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505"/>
              <a:ext cx="2801" cy="2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9pPr>
            </a:lstStyle>
            <a:p>
              <a:pPr marR="0" lvl="0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None/>
                <a:tabLst/>
                <a:defRPr/>
              </a:pPr>
              <a:r>
                <a:rPr lang="en-US" altLang="zh-CN" sz="2800" b="1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16383CF-15BC-A9C4-8D0D-380AD1DC835C}"/>
              </a:ext>
            </a:extLst>
          </p:cNvPr>
          <p:cNvGrpSpPr/>
          <p:nvPr/>
        </p:nvGrpSpPr>
        <p:grpSpPr>
          <a:xfrm>
            <a:off x="2253296" y="1354035"/>
            <a:ext cx="9360000" cy="712247"/>
            <a:chOff x="372030" y="4850353"/>
            <a:chExt cx="7992888" cy="712247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6EBDF0F-8F9B-E96B-B24F-B6BBE7ED6F2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45C3414C-114B-B370-2064-29A1D24F891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D9DB92D-0B11-3E85-9FB4-2888F3A0E3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1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60979FD-BBE4-E7D5-D14B-39803E9AAD8E}"/>
                </a:ext>
              </a:extLst>
            </p:cNvPr>
            <p:cNvSpPr/>
            <p:nvPr/>
          </p:nvSpPr>
          <p:spPr>
            <a:xfrm>
              <a:off x="1447800" y="4953000"/>
              <a:ext cx="691711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Environmental And runtime list</a:t>
              </a:r>
            </a:p>
          </p:txBody>
        </p:sp>
        <p:cxnSp>
          <p:nvCxnSpPr>
            <p:cNvPr id="14" name="直线连接符 9">
              <a:extLst>
                <a:ext uri="{FF2B5EF4-FFF2-40B4-BE49-F238E27FC236}">
                  <a16:creationId xmlns:a16="http://schemas.microsoft.com/office/drawing/2014/main" id="{141073CB-9B00-1A87-EA0F-3B1D2963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58902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05BA126-237E-28BA-6634-E0094F6EC0C6}"/>
              </a:ext>
            </a:extLst>
          </p:cNvPr>
          <p:cNvGrpSpPr/>
          <p:nvPr/>
        </p:nvGrpSpPr>
        <p:grpSpPr>
          <a:xfrm>
            <a:off x="2253296" y="2369434"/>
            <a:ext cx="9360000" cy="712247"/>
            <a:chOff x="372030" y="4850353"/>
            <a:chExt cx="7886408" cy="712247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246E1F9-0E1C-F7F2-3D87-05AFDFA6386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DB8F4E62-CD27-DB87-0B04-74E4F0F1EAFA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60C9E31-BAE4-AD15-93DD-AB8F56A2F2E3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2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8F568D0-C381-979D-D48B-FBAB4CBAAFF0}"/>
                </a:ext>
              </a:extLst>
            </p:cNvPr>
            <p:cNvSpPr/>
            <p:nvPr/>
          </p:nvSpPr>
          <p:spPr>
            <a:xfrm>
              <a:off x="1447800" y="4953000"/>
              <a:ext cx="681063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Windows server settings and IIS installation</a:t>
              </a:r>
            </a:p>
          </p:txBody>
        </p:sp>
        <p:cxnSp>
          <p:nvCxnSpPr>
            <p:cNvPr id="20" name="直线连接符 15">
              <a:extLst>
                <a:ext uri="{FF2B5EF4-FFF2-40B4-BE49-F238E27FC236}">
                  <a16:creationId xmlns:a16="http://schemas.microsoft.com/office/drawing/2014/main" id="{D4192CCC-18A4-0E9E-653F-6A64EB703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6516F6-8926-6C99-E684-4AEF7E1FF857}"/>
              </a:ext>
            </a:extLst>
          </p:cNvPr>
          <p:cNvGrpSpPr/>
          <p:nvPr/>
        </p:nvGrpSpPr>
        <p:grpSpPr>
          <a:xfrm>
            <a:off x="2253296" y="3384833"/>
            <a:ext cx="9360000" cy="712247"/>
            <a:chOff x="372030" y="4850353"/>
            <a:chExt cx="7886408" cy="712247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8424C88-D3F9-AECE-7F71-467BACE03203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9E3F81D4-0CD1-68DB-C702-131695762F4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E7E2F40-9591-13EB-4289-EEF1790CD1E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rgbClr val="FFB419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3</a:t>
                </a:r>
                <a:endParaRPr kumimoji="1" lang="zh-CN" altLang="en-US" sz="6600" b="1" spc="100" dirty="0">
                  <a:solidFill>
                    <a:srgbClr val="FFB419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C7BE7AC-F6AD-72CE-8B28-5A00FA3C3D96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b="1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Runtime installation</a:t>
              </a:r>
            </a:p>
          </p:txBody>
        </p:sp>
        <p:cxnSp>
          <p:nvCxnSpPr>
            <p:cNvPr id="27" name="直线连接符 21">
              <a:extLst>
                <a:ext uri="{FF2B5EF4-FFF2-40B4-BE49-F238E27FC236}">
                  <a16:creationId xmlns:a16="http://schemas.microsoft.com/office/drawing/2014/main" id="{BD1FE8AB-F630-C709-66AB-32D2E80F3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18">
            <a:extLst>
              <a:ext uri="{FF2B5EF4-FFF2-40B4-BE49-F238E27FC236}">
                <a16:creationId xmlns:a16="http://schemas.microsoft.com/office/drawing/2014/main" id="{05472E26-632B-FBE1-186F-09E89B3FBD38}"/>
              </a:ext>
            </a:extLst>
          </p:cNvPr>
          <p:cNvGrpSpPr/>
          <p:nvPr/>
        </p:nvGrpSpPr>
        <p:grpSpPr>
          <a:xfrm>
            <a:off x="2253296" y="4400232"/>
            <a:ext cx="9360000" cy="712247"/>
            <a:chOff x="372030" y="4850353"/>
            <a:chExt cx="7886408" cy="712247"/>
          </a:xfrm>
        </p:grpSpPr>
        <p:grpSp>
          <p:nvGrpSpPr>
            <p:cNvPr id="31" name="组合 19">
              <a:extLst>
                <a:ext uri="{FF2B5EF4-FFF2-40B4-BE49-F238E27FC236}">
                  <a16:creationId xmlns:a16="http://schemas.microsoft.com/office/drawing/2014/main" id="{BA4ED4F7-5F33-390B-EADB-DF75DBA82CB6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34" name="平行四边形 22">
                <a:extLst>
                  <a:ext uri="{FF2B5EF4-FFF2-40B4-BE49-F238E27FC236}">
                    <a16:creationId xmlns:a16="http://schemas.microsoft.com/office/drawing/2014/main" id="{CE6DC3EE-2405-4A34-5C7B-5EEFC082C1B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35" name="矩形 23">
                <a:extLst>
                  <a:ext uri="{FF2B5EF4-FFF2-40B4-BE49-F238E27FC236}">
                    <a16:creationId xmlns:a16="http://schemas.microsoft.com/office/drawing/2014/main" id="{239F5E58-038B-E2C4-F47E-3D3EC0CE3DF2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4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矩形 20">
              <a:extLst>
                <a:ext uri="{FF2B5EF4-FFF2-40B4-BE49-F238E27FC236}">
                  <a16:creationId xmlns:a16="http://schemas.microsoft.com/office/drawing/2014/main" id="{72C6E30C-6290-8F1F-2037-EDC09618813C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MSSQL</a:t>
              </a:r>
              <a:r>
                <a:rPr kumimoji="1" lang="zh-CN" altLang="en-US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And SSMS </a:t>
              </a: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installation</a:t>
              </a:r>
              <a:endParaRPr kumimoji="1" lang="zh-CN" altLang="en-US" sz="2800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线连接符 21">
              <a:extLst>
                <a:ext uri="{FF2B5EF4-FFF2-40B4-BE49-F238E27FC236}">
                  <a16:creationId xmlns:a16="http://schemas.microsoft.com/office/drawing/2014/main" id="{E32E963B-1F9D-0FF4-1D4E-6E52CAD20C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18">
            <a:extLst>
              <a:ext uri="{FF2B5EF4-FFF2-40B4-BE49-F238E27FC236}">
                <a16:creationId xmlns:a16="http://schemas.microsoft.com/office/drawing/2014/main" id="{11AF83DD-A392-2B7A-A924-A123B3E26022}"/>
              </a:ext>
            </a:extLst>
          </p:cNvPr>
          <p:cNvGrpSpPr/>
          <p:nvPr/>
        </p:nvGrpSpPr>
        <p:grpSpPr>
          <a:xfrm>
            <a:off x="2253296" y="5415631"/>
            <a:ext cx="9360000" cy="712247"/>
            <a:chOff x="372030" y="4850353"/>
            <a:chExt cx="7886408" cy="712247"/>
          </a:xfrm>
        </p:grpSpPr>
        <p:grpSp>
          <p:nvGrpSpPr>
            <p:cNvPr id="37" name="组合 19">
              <a:extLst>
                <a:ext uri="{FF2B5EF4-FFF2-40B4-BE49-F238E27FC236}">
                  <a16:creationId xmlns:a16="http://schemas.microsoft.com/office/drawing/2014/main" id="{9656BAD4-3173-C2BA-AD71-47381804199D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40" name="平行四边形 22">
                <a:extLst>
                  <a:ext uri="{FF2B5EF4-FFF2-40B4-BE49-F238E27FC236}">
                    <a16:creationId xmlns:a16="http://schemas.microsoft.com/office/drawing/2014/main" id="{F6328D7B-CD0F-2420-3ECF-0474FCE41673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41" name="矩形 23">
                <a:extLst>
                  <a:ext uri="{FF2B5EF4-FFF2-40B4-BE49-F238E27FC236}">
                    <a16:creationId xmlns:a16="http://schemas.microsoft.com/office/drawing/2014/main" id="{9E98420C-C4D4-54C5-6B7D-34CACC3644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5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8" name="矩形 20">
              <a:extLst>
                <a:ext uri="{FF2B5EF4-FFF2-40B4-BE49-F238E27FC236}">
                  <a16:creationId xmlns:a16="http://schemas.microsoft.com/office/drawing/2014/main" id="{33E41674-F618-C5ED-FF00-F57D3A41566F}"/>
                </a:ext>
              </a:extLst>
            </p:cNvPr>
            <p:cNvSpPr/>
            <p:nvPr/>
          </p:nvSpPr>
          <p:spPr>
            <a:xfrm>
              <a:off x="1447799" y="4953000"/>
              <a:ext cx="6754613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Platform installation Restore data DEMO</a:t>
              </a:r>
              <a:endParaRPr kumimoji="1" lang="zh-CN" altLang="en-US" sz="2800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线连接符 21">
              <a:extLst>
                <a:ext uri="{FF2B5EF4-FFF2-40B4-BE49-F238E27FC236}">
                  <a16:creationId xmlns:a16="http://schemas.microsoft.com/office/drawing/2014/main" id="{2724CA1C-C6B9-6BC4-D446-DEC0C655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5286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03F15-5A74-4524-449B-F32A7D45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 installation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6E8954-FC88-EEA4-94D9-C1E715DA6828}"/>
              </a:ext>
            </a:extLst>
          </p:cNvPr>
          <p:cNvSpPr/>
          <p:nvPr/>
        </p:nvSpPr>
        <p:spPr>
          <a:xfrm>
            <a:off x="914400" y="1795428"/>
            <a:ext cx="3777740" cy="981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Installation </a:t>
            </a:r>
            <a:r>
              <a:rPr lang="en-US" altLang="zh-CN" dirty="0"/>
              <a:t>ASP.NET Core/.NET Core Runtime and Hosting Bundle 3.1.8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A34226-5FA8-3FF4-8BEB-EE7740A6C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95428"/>
            <a:ext cx="3423572" cy="246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73669"/>
      </p:ext>
    </p:extLst>
  </p:cSld>
  <p:clrMapOvr>
    <a:masterClrMapping/>
  </p:clrMapOvr>
  <p:transition spd="med" advClick="0" advTm="2000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03F15-5A74-4524-449B-F32A7D45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 installation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558A7B-578A-01AD-5E3E-2BC266D199C2}"/>
              </a:ext>
            </a:extLst>
          </p:cNvPr>
          <p:cNvSpPr/>
          <p:nvPr/>
        </p:nvSpPr>
        <p:spPr>
          <a:xfrm>
            <a:off x="838200" y="1867734"/>
            <a:ext cx="3777740" cy="1325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Restart IIS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Confirm</a:t>
            </a:r>
            <a:r>
              <a:rPr lang="en-US" altLang="zh-CN" dirty="0"/>
              <a:t>  ASP.NET Core/.NET Core Runtime and Hosting Bundle 3.1.8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968B0EB-3183-A131-2051-53132C218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407" y="1757778"/>
            <a:ext cx="3089850" cy="28695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3E3DA18-5580-6DE3-CB45-10089CB80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821" y="3428999"/>
            <a:ext cx="4461014" cy="28695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1414F4B-CBB0-99E1-E913-3EF7BF42C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764" y="3428998"/>
            <a:ext cx="4500372" cy="286956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817013A-53FB-10F6-F53F-F4487CCA8465}"/>
              </a:ext>
            </a:extLst>
          </p:cNvPr>
          <p:cNvSpPr/>
          <p:nvPr/>
        </p:nvSpPr>
        <p:spPr>
          <a:xfrm>
            <a:off x="8612035" y="1925833"/>
            <a:ext cx="3322101" cy="1407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Confirm Module</a:t>
            </a:r>
            <a:endParaRPr lang="en-US" altLang="zh-CN" dirty="0"/>
          </a:p>
          <a:p>
            <a:pPr algn="ctr"/>
            <a:r>
              <a:rPr lang="en-US" altLang="zh-CN" dirty="0"/>
              <a:t>AspNetCoreModuleV2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0260182"/>
      </p:ext>
    </p:extLst>
  </p:cSld>
  <p:clrMapOvr>
    <a:masterClrMapping/>
  </p:clrMapOvr>
  <p:transition spd="med" advClick="0" advTm="2000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56360" y="6337935"/>
            <a:ext cx="271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71065" y="6628130"/>
            <a:ext cx="63703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©2020  </a:t>
            </a:r>
            <a:r>
              <a:rPr lang="zh-CN" altLang="en-US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Shanghai Hourglass Engineering Software Ltd.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5204B3B-F58B-8BAB-F364-412FCB2BA822}"/>
              </a:ext>
            </a:extLst>
          </p:cNvPr>
          <p:cNvGrpSpPr/>
          <p:nvPr/>
        </p:nvGrpSpPr>
        <p:grpSpPr>
          <a:xfrm>
            <a:off x="-245110" y="264160"/>
            <a:ext cx="7412355" cy="589624"/>
            <a:chOff x="-360" y="432"/>
            <a:chExt cx="4833" cy="2226"/>
          </a:xfrm>
        </p:grpSpPr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35F67B21-90C8-F6D3-8CBC-DA2D90E794F7}"/>
                </a:ext>
              </a:extLst>
            </p:cNvPr>
            <p:cNvSpPr/>
            <p:nvPr/>
          </p:nvSpPr>
          <p:spPr>
            <a:xfrm>
              <a:off x="-360" y="432"/>
              <a:ext cx="1891" cy="727"/>
            </a:xfrm>
            <a:prstGeom prst="parallelogram">
              <a:avLst/>
            </a:prstGeom>
            <a:solidFill>
              <a:srgbClr val="FFB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" name="矩形 259">
              <a:extLst>
                <a:ext uri="{FF2B5EF4-FFF2-40B4-BE49-F238E27FC236}">
                  <a16:creationId xmlns:a16="http://schemas.microsoft.com/office/drawing/2014/main" id="{16F08BD9-40F1-79BD-87E2-12B999E95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505"/>
              <a:ext cx="2801" cy="2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9pPr>
            </a:lstStyle>
            <a:p>
              <a:pPr marR="0" lvl="0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None/>
                <a:tabLst/>
                <a:defRPr/>
              </a:pPr>
              <a:r>
                <a:rPr lang="en-US" altLang="zh-CN" sz="2800" b="1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16383CF-15BC-A9C4-8D0D-380AD1DC835C}"/>
              </a:ext>
            </a:extLst>
          </p:cNvPr>
          <p:cNvGrpSpPr/>
          <p:nvPr/>
        </p:nvGrpSpPr>
        <p:grpSpPr>
          <a:xfrm>
            <a:off x="2253296" y="1354035"/>
            <a:ext cx="9360000" cy="712247"/>
            <a:chOff x="372030" y="4850353"/>
            <a:chExt cx="7992888" cy="712247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6EBDF0F-8F9B-E96B-B24F-B6BBE7ED6F2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45C3414C-114B-B370-2064-29A1D24F891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D9DB92D-0B11-3E85-9FB4-2888F3A0E3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1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60979FD-BBE4-E7D5-D14B-39803E9AAD8E}"/>
                </a:ext>
              </a:extLst>
            </p:cNvPr>
            <p:cNvSpPr/>
            <p:nvPr/>
          </p:nvSpPr>
          <p:spPr>
            <a:xfrm>
              <a:off x="1447800" y="4953000"/>
              <a:ext cx="691711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Environmental And runtime list</a:t>
              </a:r>
            </a:p>
          </p:txBody>
        </p:sp>
        <p:cxnSp>
          <p:nvCxnSpPr>
            <p:cNvPr id="14" name="直线连接符 9">
              <a:extLst>
                <a:ext uri="{FF2B5EF4-FFF2-40B4-BE49-F238E27FC236}">
                  <a16:creationId xmlns:a16="http://schemas.microsoft.com/office/drawing/2014/main" id="{141073CB-9B00-1A87-EA0F-3B1D2963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58902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05BA126-237E-28BA-6634-E0094F6EC0C6}"/>
              </a:ext>
            </a:extLst>
          </p:cNvPr>
          <p:cNvGrpSpPr/>
          <p:nvPr/>
        </p:nvGrpSpPr>
        <p:grpSpPr>
          <a:xfrm>
            <a:off x="2253296" y="2369434"/>
            <a:ext cx="9360000" cy="712247"/>
            <a:chOff x="372030" y="4850353"/>
            <a:chExt cx="7886408" cy="712247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246E1F9-0E1C-F7F2-3D87-05AFDFA6386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DB8F4E62-CD27-DB87-0B04-74E4F0F1EAFA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60C9E31-BAE4-AD15-93DD-AB8F56A2F2E3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2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8F568D0-C381-979D-D48B-FBAB4CBAAFF0}"/>
                </a:ext>
              </a:extLst>
            </p:cNvPr>
            <p:cNvSpPr/>
            <p:nvPr/>
          </p:nvSpPr>
          <p:spPr>
            <a:xfrm>
              <a:off x="1447800" y="4953000"/>
              <a:ext cx="681063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Windows server settings and IIS installation</a:t>
              </a:r>
            </a:p>
          </p:txBody>
        </p:sp>
        <p:cxnSp>
          <p:nvCxnSpPr>
            <p:cNvPr id="20" name="直线连接符 15">
              <a:extLst>
                <a:ext uri="{FF2B5EF4-FFF2-40B4-BE49-F238E27FC236}">
                  <a16:creationId xmlns:a16="http://schemas.microsoft.com/office/drawing/2014/main" id="{D4192CCC-18A4-0E9E-653F-6A64EB703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6516F6-8926-6C99-E684-4AEF7E1FF857}"/>
              </a:ext>
            </a:extLst>
          </p:cNvPr>
          <p:cNvGrpSpPr/>
          <p:nvPr/>
        </p:nvGrpSpPr>
        <p:grpSpPr>
          <a:xfrm>
            <a:off x="2253296" y="3384833"/>
            <a:ext cx="9360000" cy="712247"/>
            <a:chOff x="372030" y="4850353"/>
            <a:chExt cx="7886408" cy="712247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8424C88-D3F9-AECE-7F71-467BACE03203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9E3F81D4-0CD1-68DB-C702-131695762F4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E7E2F40-9591-13EB-4289-EEF1790CD1E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3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C7BE7AC-F6AD-72CE-8B28-5A00FA3C3D96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Runtime installation</a:t>
              </a:r>
            </a:p>
          </p:txBody>
        </p:sp>
        <p:cxnSp>
          <p:nvCxnSpPr>
            <p:cNvPr id="27" name="直线连接符 21">
              <a:extLst>
                <a:ext uri="{FF2B5EF4-FFF2-40B4-BE49-F238E27FC236}">
                  <a16:creationId xmlns:a16="http://schemas.microsoft.com/office/drawing/2014/main" id="{BD1FE8AB-F630-C709-66AB-32D2E80F3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18">
            <a:extLst>
              <a:ext uri="{FF2B5EF4-FFF2-40B4-BE49-F238E27FC236}">
                <a16:creationId xmlns:a16="http://schemas.microsoft.com/office/drawing/2014/main" id="{05472E26-632B-FBE1-186F-09E89B3FBD38}"/>
              </a:ext>
            </a:extLst>
          </p:cNvPr>
          <p:cNvGrpSpPr/>
          <p:nvPr/>
        </p:nvGrpSpPr>
        <p:grpSpPr>
          <a:xfrm>
            <a:off x="2253296" y="4400232"/>
            <a:ext cx="9360000" cy="712247"/>
            <a:chOff x="372030" y="4850353"/>
            <a:chExt cx="7886408" cy="712247"/>
          </a:xfrm>
        </p:grpSpPr>
        <p:grpSp>
          <p:nvGrpSpPr>
            <p:cNvPr id="31" name="组合 19">
              <a:extLst>
                <a:ext uri="{FF2B5EF4-FFF2-40B4-BE49-F238E27FC236}">
                  <a16:creationId xmlns:a16="http://schemas.microsoft.com/office/drawing/2014/main" id="{BA4ED4F7-5F33-390B-EADB-DF75DBA82CB6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34" name="平行四边形 22">
                <a:extLst>
                  <a:ext uri="{FF2B5EF4-FFF2-40B4-BE49-F238E27FC236}">
                    <a16:creationId xmlns:a16="http://schemas.microsoft.com/office/drawing/2014/main" id="{CE6DC3EE-2405-4A34-5C7B-5EEFC082C1B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35" name="矩形 23">
                <a:extLst>
                  <a:ext uri="{FF2B5EF4-FFF2-40B4-BE49-F238E27FC236}">
                    <a16:creationId xmlns:a16="http://schemas.microsoft.com/office/drawing/2014/main" id="{239F5E58-038B-E2C4-F47E-3D3EC0CE3DF2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rgbClr val="FFC000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4</a:t>
                </a:r>
                <a:endParaRPr kumimoji="1" lang="zh-CN" altLang="en-US" sz="6600" b="1" spc="100" dirty="0">
                  <a:solidFill>
                    <a:srgbClr val="FFC000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矩形 20">
              <a:extLst>
                <a:ext uri="{FF2B5EF4-FFF2-40B4-BE49-F238E27FC236}">
                  <a16:creationId xmlns:a16="http://schemas.microsoft.com/office/drawing/2014/main" id="{72C6E30C-6290-8F1F-2037-EDC09618813C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MSSQL</a:t>
              </a:r>
              <a:r>
                <a:rPr kumimoji="1" lang="zh-CN" altLang="en-US" sz="28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28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And SSMS </a:t>
              </a:r>
              <a:r>
                <a:rPr lang="en-US" altLang="zh-CN" sz="2800" b="1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installation</a:t>
              </a:r>
              <a:endParaRPr kumimoji="1" lang="zh-CN" altLang="en-US" sz="28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线连接符 21">
              <a:extLst>
                <a:ext uri="{FF2B5EF4-FFF2-40B4-BE49-F238E27FC236}">
                  <a16:creationId xmlns:a16="http://schemas.microsoft.com/office/drawing/2014/main" id="{E32E963B-1F9D-0FF4-1D4E-6E52CAD20C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18">
            <a:extLst>
              <a:ext uri="{FF2B5EF4-FFF2-40B4-BE49-F238E27FC236}">
                <a16:creationId xmlns:a16="http://schemas.microsoft.com/office/drawing/2014/main" id="{11AF83DD-A392-2B7A-A924-A123B3E26022}"/>
              </a:ext>
            </a:extLst>
          </p:cNvPr>
          <p:cNvGrpSpPr/>
          <p:nvPr/>
        </p:nvGrpSpPr>
        <p:grpSpPr>
          <a:xfrm>
            <a:off x="2253296" y="5415631"/>
            <a:ext cx="9360000" cy="712247"/>
            <a:chOff x="372030" y="4850353"/>
            <a:chExt cx="7886408" cy="712247"/>
          </a:xfrm>
        </p:grpSpPr>
        <p:grpSp>
          <p:nvGrpSpPr>
            <p:cNvPr id="37" name="组合 19">
              <a:extLst>
                <a:ext uri="{FF2B5EF4-FFF2-40B4-BE49-F238E27FC236}">
                  <a16:creationId xmlns:a16="http://schemas.microsoft.com/office/drawing/2014/main" id="{9656BAD4-3173-C2BA-AD71-47381804199D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40" name="平行四边形 22">
                <a:extLst>
                  <a:ext uri="{FF2B5EF4-FFF2-40B4-BE49-F238E27FC236}">
                    <a16:creationId xmlns:a16="http://schemas.microsoft.com/office/drawing/2014/main" id="{F6328D7B-CD0F-2420-3ECF-0474FCE41673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41" name="矩形 23">
                <a:extLst>
                  <a:ext uri="{FF2B5EF4-FFF2-40B4-BE49-F238E27FC236}">
                    <a16:creationId xmlns:a16="http://schemas.microsoft.com/office/drawing/2014/main" id="{9E98420C-C4D4-54C5-6B7D-34CACC3644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5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8" name="矩形 20">
              <a:extLst>
                <a:ext uri="{FF2B5EF4-FFF2-40B4-BE49-F238E27FC236}">
                  <a16:creationId xmlns:a16="http://schemas.microsoft.com/office/drawing/2014/main" id="{33E41674-F618-C5ED-FF00-F57D3A41566F}"/>
                </a:ext>
              </a:extLst>
            </p:cNvPr>
            <p:cNvSpPr/>
            <p:nvPr/>
          </p:nvSpPr>
          <p:spPr>
            <a:xfrm>
              <a:off x="1447799" y="4953000"/>
              <a:ext cx="6709624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Platform installation Restore data DEMO</a:t>
              </a:r>
              <a:endParaRPr kumimoji="1" lang="zh-CN" altLang="en-US" sz="2800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线连接符 21">
              <a:extLst>
                <a:ext uri="{FF2B5EF4-FFF2-40B4-BE49-F238E27FC236}">
                  <a16:creationId xmlns:a16="http://schemas.microsoft.com/office/drawing/2014/main" id="{2724CA1C-C6B9-6BC4-D446-DEC0C655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75894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87EEE-F94C-1092-4541-34AA87A5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MSSQL</a:t>
            </a:r>
            <a:r>
              <a:rPr kumimoji="1" lang="zh-CN" altLang="en-US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 </a:t>
            </a:r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installation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BA1C07-34D9-F194-5F1E-5CB13243E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8004"/>
            <a:ext cx="3335053" cy="26232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2B6866-72A8-19C6-5CCC-F3BCB6F8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48004"/>
            <a:ext cx="3307354" cy="262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3126"/>
      </p:ext>
    </p:extLst>
  </p:cSld>
  <p:clrMapOvr>
    <a:masterClrMapping/>
  </p:clrMapOvr>
  <p:transition spd="med" advClick="0" advTm="2000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87EEE-F94C-1092-4541-34AA87A5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MSSQL</a:t>
            </a:r>
            <a:r>
              <a:rPr kumimoji="1" lang="zh-CN" altLang="en-US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 </a:t>
            </a:r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installation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3BCE49-1CB2-6452-F613-0F08A9AB5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7639"/>
            <a:ext cx="3385931" cy="28422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ED26F6A-3C7E-D9B1-6253-896A7B011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503" y="1859467"/>
            <a:ext cx="3385932" cy="286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4422"/>
      </p:ext>
    </p:extLst>
  </p:cSld>
  <p:clrMapOvr>
    <a:masterClrMapping/>
  </p:clrMapOvr>
  <p:transition spd="med" advClick="0" advTm="2000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9BA5A-92B2-FDF9-52EA-1017C2E48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230"/>
          </a:xfrm>
        </p:spPr>
        <p:txBody>
          <a:bodyPr/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SSMS </a:t>
            </a:r>
            <a:r>
              <a:rPr lang="en-US" altLang="zh-CN" sz="4400" b="1" dirty="0">
                <a:solidFill>
                  <a:srgbClr val="3D46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installation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60B4AD-3812-FAC7-484D-6039262C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38" y="1365110"/>
            <a:ext cx="4681339" cy="412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21572"/>
      </p:ext>
    </p:extLst>
  </p:cSld>
  <p:clrMapOvr>
    <a:masterClrMapping/>
  </p:clrMapOvr>
  <p:transition spd="med" advClick="0" advTm="2000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9BA5A-92B2-FDF9-52EA-1017C2E48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230"/>
          </a:xfrm>
        </p:spPr>
        <p:txBody>
          <a:bodyPr/>
          <a:lstStyle/>
          <a:p>
            <a:r>
              <a:rPr lang="en-US" altLang="zh-CN" dirty="0"/>
              <a:t>Microsoft Edge Setup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7C36B4-CED6-7194-7DB3-9D8FAEE91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3862"/>
            <a:ext cx="5556738" cy="439282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96732F1-F414-F901-A168-593B91E45835}"/>
              </a:ext>
            </a:extLst>
          </p:cNvPr>
          <p:cNvSpPr/>
          <p:nvPr/>
        </p:nvSpPr>
        <p:spPr>
          <a:xfrm>
            <a:off x="7242837" y="1644604"/>
            <a:ext cx="3072121" cy="1197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After installation, set the default browser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6456680"/>
      </p:ext>
    </p:extLst>
  </p:cSld>
  <p:clrMapOvr>
    <a:masterClrMapping/>
  </p:clrMapOvr>
  <p:transition spd="med" advClick="0" advTm="2000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56360" y="6337935"/>
            <a:ext cx="271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71065" y="6628130"/>
            <a:ext cx="63703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©2020  </a:t>
            </a:r>
            <a:r>
              <a:rPr lang="zh-CN" altLang="en-US" sz="900" dirty="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Shanghai Hourglass Engineering Software Ltd.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5204B3B-F58B-8BAB-F364-412FCB2BA822}"/>
              </a:ext>
            </a:extLst>
          </p:cNvPr>
          <p:cNvGrpSpPr/>
          <p:nvPr/>
        </p:nvGrpSpPr>
        <p:grpSpPr>
          <a:xfrm>
            <a:off x="-245110" y="264160"/>
            <a:ext cx="7412355" cy="589624"/>
            <a:chOff x="-360" y="432"/>
            <a:chExt cx="4833" cy="2226"/>
          </a:xfrm>
        </p:grpSpPr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35F67B21-90C8-F6D3-8CBC-DA2D90E794F7}"/>
                </a:ext>
              </a:extLst>
            </p:cNvPr>
            <p:cNvSpPr/>
            <p:nvPr/>
          </p:nvSpPr>
          <p:spPr>
            <a:xfrm>
              <a:off x="-360" y="432"/>
              <a:ext cx="1891" cy="727"/>
            </a:xfrm>
            <a:prstGeom prst="parallelogram">
              <a:avLst/>
            </a:prstGeom>
            <a:solidFill>
              <a:srgbClr val="FFB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" name="矩形 259">
              <a:extLst>
                <a:ext uri="{FF2B5EF4-FFF2-40B4-BE49-F238E27FC236}">
                  <a16:creationId xmlns:a16="http://schemas.microsoft.com/office/drawing/2014/main" id="{16F08BD9-40F1-79BD-87E2-12B999E95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505"/>
              <a:ext cx="2801" cy="2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9pPr>
            </a:lstStyle>
            <a:p>
              <a:pPr marR="0" lvl="0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None/>
                <a:tabLst/>
                <a:defRPr/>
              </a:pPr>
              <a:r>
                <a:rPr lang="en-US" altLang="zh-CN" sz="2800" b="1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16383CF-15BC-A9C4-8D0D-380AD1DC835C}"/>
              </a:ext>
            </a:extLst>
          </p:cNvPr>
          <p:cNvGrpSpPr/>
          <p:nvPr/>
        </p:nvGrpSpPr>
        <p:grpSpPr>
          <a:xfrm>
            <a:off x="2253296" y="1354035"/>
            <a:ext cx="9360000" cy="712247"/>
            <a:chOff x="372030" y="4850353"/>
            <a:chExt cx="7992888" cy="712247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6EBDF0F-8F9B-E96B-B24F-B6BBE7ED6F2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45C3414C-114B-B370-2064-29A1D24F891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D9DB92D-0B11-3E85-9FB4-2888F3A0E3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1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60979FD-BBE4-E7D5-D14B-39803E9AAD8E}"/>
                </a:ext>
              </a:extLst>
            </p:cNvPr>
            <p:cNvSpPr/>
            <p:nvPr/>
          </p:nvSpPr>
          <p:spPr>
            <a:xfrm>
              <a:off x="1447800" y="4953000"/>
              <a:ext cx="691711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Environmental And runtime list</a:t>
              </a:r>
            </a:p>
          </p:txBody>
        </p:sp>
        <p:cxnSp>
          <p:nvCxnSpPr>
            <p:cNvPr id="14" name="直线连接符 9">
              <a:extLst>
                <a:ext uri="{FF2B5EF4-FFF2-40B4-BE49-F238E27FC236}">
                  <a16:creationId xmlns:a16="http://schemas.microsoft.com/office/drawing/2014/main" id="{141073CB-9B00-1A87-EA0F-3B1D2963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58902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05BA126-237E-28BA-6634-E0094F6EC0C6}"/>
              </a:ext>
            </a:extLst>
          </p:cNvPr>
          <p:cNvGrpSpPr/>
          <p:nvPr/>
        </p:nvGrpSpPr>
        <p:grpSpPr>
          <a:xfrm>
            <a:off x="2253296" y="2369434"/>
            <a:ext cx="9360000" cy="712247"/>
            <a:chOff x="372030" y="4850353"/>
            <a:chExt cx="7886408" cy="712247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246E1F9-0E1C-F7F2-3D87-05AFDFA6386F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DB8F4E62-CD27-DB87-0B04-74E4F0F1EAFA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60C9E31-BAE4-AD15-93DD-AB8F56A2F2E3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2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8F568D0-C381-979D-D48B-FBAB4CBAAFF0}"/>
                </a:ext>
              </a:extLst>
            </p:cNvPr>
            <p:cNvSpPr/>
            <p:nvPr/>
          </p:nvSpPr>
          <p:spPr>
            <a:xfrm>
              <a:off x="1447800" y="4953000"/>
              <a:ext cx="6810638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Windows server settings and IIS installation</a:t>
              </a:r>
            </a:p>
          </p:txBody>
        </p:sp>
        <p:cxnSp>
          <p:nvCxnSpPr>
            <p:cNvPr id="20" name="直线连接符 15">
              <a:extLst>
                <a:ext uri="{FF2B5EF4-FFF2-40B4-BE49-F238E27FC236}">
                  <a16:creationId xmlns:a16="http://schemas.microsoft.com/office/drawing/2014/main" id="{D4192CCC-18A4-0E9E-653F-6A64EB703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6516F6-8926-6C99-E684-4AEF7E1FF857}"/>
              </a:ext>
            </a:extLst>
          </p:cNvPr>
          <p:cNvGrpSpPr/>
          <p:nvPr/>
        </p:nvGrpSpPr>
        <p:grpSpPr>
          <a:xfrm>
            <a:off x="2253296" y="3384833"/>
            <a:ext cx="9360000" cy="712247"/>
            <a:chOff x="372030" y="4850353"/>
            <a:chExt cx="7886408" cy="712247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8424C88-D3F9-AECE-7F71-467BACE03203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9E3F81D4-0CD1-68DB-C702-131695762F4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E7E2F40-9591-13EB-4289-EEF1790CD1E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3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C7BE7AC-F6AD-72CE-8B28-5A00FA3C3D96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Runtime installation</a:t>
              </a:r>
            </a:p>
          </p:txBody>
        </p:sp>
        <p:cxnSp>
          <p:nvCxnSpPr>
            <p:cNvPr id="27" name="直线连接符 21">
              <a:extLst>
                <a:ext uri="{FF2B5EF4-FFF2-40B4-BE49-F238E27FC236}">
                  <a16:creationId xmlns:a16="http://schemas.microsoft.com/office/drawing/2014/main" id="{BD1FE8AB-F630-C709-66AB-32D2E80F3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18">
            <a:extLst>
              <a:ext uri="{FF2B5EF4-FFF2-40B4-BE49-F238E27FC236}">
                <a16:creationId xmlns:a16="http://schemas.microsoft.com/office/drawing/2014/main" id="{05472E26-632B-FBE1-186F-09E89B3FBD38}"/>
              </a:ext>
            </a:extLst>
          </p:cNvPr>
          <p:cNvGrpSpPr/>
          <p:nvPr/>
        </p:nvGrpSpPr>
        <p:grpSpPr>
          <a:xfrm>
            <a:off x="2253296" y="4400232"/>
            <a:ext cx="9360000" cy="712247"/>
            <a:chOff x="372030" y="4850353"/>
            <a:chExt cx="7886408" cy="712247"/>
          </a:xfrm>
        </p:grpSpPr>
        <p:grpSp>
          <p:nvGrpSpPr>
            <p:cNvPr id="31" name="组合 19">
              <a:extLst>
                <a:ext uri="{FF2B5EF4-FFF2-40B4-BE49-F238E27FC236}">
                  <a16:creationId xmlns:a16="http://schemas.microsoft.com/office/drawing/2014/main" id="{BA4ED4F7-5F33-390B-EADB-DF75DBA82CB6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34" name="平行四边形 22">
                <a:extLst>
                  <a:ext uri="{FF2B5EF4-FFF2-40B4-BE49-F238E27FC236}">
                    <a16:creationId xmlns:a16="http://schemas.microsoft.com/office/drawing/2014/main" id="{CE6DC3EE-2405-4A34-5C7B-5EEFC082C1B5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35" name="矩形 23">
                <a:extLst>
                  <a:ext uri="{FF2B5EF4-FFF2-40B4-BE49-F238E27FC236}">
                    <a16:creationId xmlns:a16="http://schemas.microsoft.com/office/drawing/2014/main" id="{239F5E58-038B-E2C4-F47E-3D3EC0CE3DF2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chemeClr val="tx1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4</a:t>
                </a:r>
                <a:endParaRPr kumimoji="1" lang="zh-CN" altLang="en-US" sz="66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矩形 20">
              <a:extLst>
                <a:ext uri="{FF2B5EF4-FFF2-40B4-BE49-F238E27FC236}">
                  <a16:creationId xmlns:a16="http://schemas.microsoft.com/office/drawing/2014/main" id="{72C6E30C-6290-8F1F-2037-EDC09618813C}"/>
                </a:ext>
              </a:extLst>
            </p:cNvPr>
            <p:cNvSpPr/>
            <p:nvPr/>
          </p:nvSpPr>
          <p:spPr>
            <a:xfrm>
              <a:off x="1447800" y="4953000"/>
              <a:ext cx="6666622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MSSQL</a:t>
              </a:r>
              <a:r>
                <a:rPr kumimoji="1" lang="zh-CN" altLang="en-US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2800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And SSMS </a:t>
              </a:r>
              <a:r>
                <a:rPr lang="en-US" altLang="zh-CN" sz="2800" dirty="0">
                  <a:solidFill>
                    <a:srgbClr val="3D46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installation</a:t>
              </a:r>
              <a:endParaRPr kumimoji="1" lang="zh-CN" altLang="en-US" sz="2800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线连接符 21">
              <a:extLst>
                <a:ext uri="{FF2B5EF4-FFF2-40B4-BE49-F238E27FC236}">
                  <a16:creationId xmlns:a16="http://schemas.microsoft.com/office/drawing/2014/main" id="{E32E963B-1F9D-0FF4-1D4E-6E52CAD20C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18">
            <a:extLst>
              <a:ext uri="{FF2B5EF4-FFF2-40B4-BE49-F238E27FC236}">
                <a16:creationId xmlns:a16="http://schemas.microsoft.com/office/drawing/2014/main" id="{11AF83DD-A392-2B7A-A924-A123B3E26022}"/>
              </a:ext>
            </a:extLst>
          </p:cNvPr>
          <p:cNvGrpSpPr/>
          <p:nvPr/>
        </p:nvGrpSpPr>
        <p:grpSpPr>
          <a:xfrm>
            <a:off x="2253296" y="5415631"/>
            <a:ext cx="9533787" cy="712247"/>
            <a:chOff x="372030" y="4850353"/>
            <a:chExt cx="8032835" cy="712247"/>
          </a:xfrm>
        </p:grpSpPr>
        <p:grpSp>
          <p:nvGrpSpPr>
            <p:cNvPr id="37" name="组合 19">
              <a:extLst>
                <a:ext uri="{FF2B5EF4-FFF2-40B4-BE49-F238E27FC236}">
                  <a16:creationId xmlns:a16="http://schemas.microsoft.com/office/drawing/2014/main" id="{9656BAD4-3173-C2BA-AD71-47381804199D}"/>
                </a:ext>
              </a:extLst>
            </p:cNvPr>
            <p:cNvGrpSpPr/>
            <p:nvPr/>
          </p:nvGrpSpPr>
          <p:grpSpPr>
            <a:xfrm>
              <a:off x="372030" y="4850353"/>
              <a:ext cx="1030195" cy="664586"/>
              <a:chOff x="5370605" y="2057400"/>
              <a:chExt cx="1030195" cy="664586"/>
            </a:xfrm>
          </p:grpSpPr>
          <p:sp>
            <p:nvSpPr>
              <p:cNvPr id="40" name="平行四边形 22">
                <a:extLst>
                  <a:ext uri="{FF2B5EF4-FFF2-40B4-BE49-F238E27FC236}">
                    <a16:creationId xmlns:a16="http://schemas.microsoft.com/office/drawing/2014/main" id="{F6328D7B-CD0F-2420-3ECF-0474FCE41673}"/>
                  </a:ext>
                </a:extLst>
              </p:cNvPr>
              <p:cNvSpPr/>
              <p:nvPr/>
            </p:nvSpPr>
            <p:spPr>
              <a:xfrm>
                <a:off x="5791200" y="2057400"/>
                <a:ext cx="609600" cy="664586"/>
              </a:xfrm>
              <a:prstGeom prst="parallelogram">
                <a:avLst>
                  <a:gd name="adj" fmla="val 4389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Montserrat" pitchFamily="2" charset="0"/>
                </a:endParaRPr>
              </a:p>
            </p:txBody>
          </p:sp>
          <p:sp>
            <p:nvSpPr>
              <p:cNvPr id="41" name="矩形 23">
                <a:extLst>
                  <a:ext uri="{FF2B5EF4-FFF2-40B4-BE49-F238E27FC236}">
                    <a16:creationId xmlns:a16="http://schemas.microsoft.com/office/drawing/2014/main" id="{9E98420C-C4D4-54C5-6B7D-34CACC36445B}"/>
                  </a:ext>
                </a:extLst>
              </p:cNvPr>
              <p:cNvSpPr/>
              <p:nvPr/>
            </p:nvSpPr>
            <p:spPr>
              <a:xfrm>
                <a:off x="5370605" y="2057400"/>
                <a:ext cx="877795" cy="6645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6600" b="1" spc="100" dirty="0">
                    <a:solidFill>
                      <a:srgbClr val="FFC000"/>
                    </a:solidFill>
                    <a:latin typeface="Montserrat" pitchFamily="2" charset="0"/>
                    <a:ea typeface="微软雅黑" panose="020B0503020204020204" pitchFamily="34" charset="-122"/>
                  </a:rPr>
                  <a:t>5</a:t>
                </a:r>
                <a:endParaRPr kumimoji="1" lang="zh-CN" altLang="en-US" sz="6600" b="1" spc="100" dirty="0">
                  <a:solidFill>
                    <a:srgbClr val="FFC000"/>
                  </a:solidFill>
                  <a:latin typeface="Montserrat" pitchFamily="2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8" name="矩形 20">
              <a:extLst>
                <a:ext uri="{FF2B5EF4-FFF2-40B4-BE49-F238E27FC236}">
                  <a16:creationId xmlns:a16="http://schemas.microsoft.com/office/drawing/2014/main" id="{33E41674-F618-C5ED-FF00-F57D3A41566F}"/>
                </a:ext>
              </a:extLst>
            </p:cNvPr>
            <p:cNvSpPr/>
            <p:nvPr/>
          </p:nvSpPr>
          <p:spPr>
            <a:xfrm>
              <a:off x="1447799" y="4953000"/>
              <a:ext cx="6957066" cy="455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2800" b="1" spc="100" dirty="0">
                  <a:solidFill>
                    <a:schemeClr val="tx1"/>
                  </a:solidFill>
                  <a:latin typeface="Montserrat" pitchFamily="2" charset="0"/>
                  <a:ea typeface="微软雅黑" panose="020B0503020204020204" pitchFamily="34" charset="-122"/>
                </a:rPr>
                <a:t>Platform installation Restore data DEMO</a:t>
              </a:r>
              <a:endParaRPr kumimoji="1" lang="zh-CN" altLang="en-US" sz="28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线连接符 21">
              <a:extLst>
                <a:ext uri="{FF2B5EF4-FFF2-40B4-BE49-F238E27FC236}">
                  <a16:creationId xmlns:a16="http://schemas.microsoft.com/office/drawing/2014/main" id="{2724CA1C-C6B9-6BC4-D446-DEC0C655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5514939"/>
              <a:ext cx="7496438" cy="47661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74225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Platform installation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80C5B1-E4DE-85E9-327D-F07267BCAEAC}"/>
              </a:ext>
            </a:extLst>
          </p:cNvPr>
          <p:cNvSpPr/>
          <p:nvPr/>
        </p:nvSpPr>
        <p:spPr>
          <a:xfrm>
            <a:off x="913712" y="1569943"/>
            <a:ext cx="6246687" cy="7719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zh-CN" dirty="0"/>
              <a:t>Details [Aras Innovator 15 - Installation Guide</a:t>
            </a:r>
            <a:r>
              <a:rPr lang="en-US" altLang="zh-CN" dirty="0"/>
              <a:t>.pdf]</a:t>
            </a:r>
            <a:br>
              <a:rPr lang="en-US" altLang="zh-CN" dirty="0"/>
            </a:br>
            <a:r>
              <a:rPr lang="en-US" altLang="zh-CN" dirty="0"/>
              <a:t>2.2 Obtaining a Framework License</a:t>
            </a:r>
            <a:br>
              <a:rPr lang="en-US" altLang="zh-CN" dirty="0"/>
            </a:br>
            <a:r>
              <a:rPr lang="en-US" altLang="zh-CN" dirty="0"/>
              <a:t>3 Installing Aras Innovator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205502-0589-7CD2-737C-7BFB1AD04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7923"/>
            <a:ext cx="4581939" cy="41145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3BB4BB-9F16-84A9-0261-EE2FD65EB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754" y="2437923"/>
            <a:ext cx="3265341" cy="251180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D01D03B-4398-6CF7-777B-657FB5B0B396}"/>
              </a:ext>
            </a:extLst>
          </p:cNvPr>
          <p:cNvSpPr/>
          <p:nvPr/>
        </p:nvSpPr>
        <p:spPr>
          <a:xfrm>
            <a:off x="5618754" y="5045730"/>
            <a:ext cx="3322101" cy="1407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</a:rPr>
              <a:t>Confirm Application </a:t>
            </a:r>
          </a:p>
          <a:p>
            <a:pPr algn="ctr"/>
            <a:r>
              <a:rPr lang="en-US" altLang="zh-CN" dirty="0">
                <a:solidFill>
                  <a:srgbClr val="FFFFFF"/>
                </a:solidFill>
              </a:rPr>
              <a:t>Aras Innovator </a:t>
            </a:r>
            <a:r>
              <a:rPr lang="en-US" altLang="zh-CN" dirty="0">
                <a:solidFill>
                  <a:srgbClr val="FF0000"/>
                </a:solidFill>
              </a:rPr>
              <a:t>version 14.0.1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1442985"/>
      </p:ext>
    </p:extLst>
  </p:cSld>
  <p:clrMapOvr>
    <a:masterClrMapping/>
  </p:clrMapOvr>
  <p:transition spd="med" advClick="0" advTm="2000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Platform installation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80C5B1-E4DE-85E9-327D-F07267BCAEAC}"/>
              </a:ext>
            </a:extLst>
          </p:cNvPr>
          <p:cNvSpPr/>
          <p:nvPr/>
        </p:nvSpPr>
        <p:spPr>
          <a:xfrm>
            <a:off x="913712" y="1569943"/>
            <a:ext cx="6246687" cy="708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zh-CN" dirty="0"/>
              <a:t>Details [Aras Innovator 15 - Installation Guide</a:t>
            </a:r>
            <a:r>
              <a:rPr lang="en-US" altLang="zh-CN" dirty="0"/>
              <a:t>.pdf]</a:t>
            </a:r>
            <a:br>
              <a:rPr lang="en-US" altLang="zh-CN" dirty="0"/>
            </a:br>
            <a:r>
              <a:rPr lang="en-US" altLang="zh-CN" dirty="0"/>
              <a:t>3 Installing Aras Innovator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DE8904-5DCF-9DBD-FCAC-7C273DC39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97042"/>
            <a:ext cx="4752381" cy="36476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3C51E0B-170F-308F-A651-C8C9139E5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713" y="1494823"/>
            <a:ext cx="3642772" cy="477763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C09F8FA-C0B2-C653-8850-6B1FD0374C2A}"/>
              </a:ext>
            </a:extLst>
          </p:cNvPr>
          <p:cNvSpPr/>
          <p:nvPr/>
        </p:nvSpPr>
        <p:spPr>
          <a:xfrm>
            <a:off x="5742958" y="2703729"/>
            <a:ext cx="1519615" cy="191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Site and database are </a:t>
            </a:r>
            <a:r>
              <a:rPr lang="en-US" altLang="zh-CN" dirty="0">
                <a:solidFill>
                  <a:srgbClr val="FF0000"/>
                </a:solidFill>
              </a:rPr>
              <a:t>FEA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301505"/>
      </p:ext>
    </p:extLst>
  </p:cSld>
  <p:clrMapOvr>
    <a:masterClrMapping/>
  </p:clrMapOvr>
  <p:transition spd="med" advClick="0" advTm="2000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Platform installation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147C19-E6D0-2F59-888A-0F1545485374}"/>
              </a:ext>
            </a:extLst>
          </p:cNvPr>
          <p:cNvSpPr/>
          <p:nvPr/>
        </p:nvSpPr>
        <p:spPr>
          <a:xfrm>
            <a:off x="913712" y="1569943"/>
            <a:ext cx="6246687" cy="708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zh-CN" dirty="0">
                <a:solidFill>
                  <a:srgbClr val="FF0000"/>
                </a:solidFill>
              </a:rPr>
              <a:t>Set permissions-</a:t>
            </a:r>
            <a:r>
              <a:rPr lang="en-US" altLang="zh-CN" dirty="0">
                <a:solidFill>
                  <a:srgbClr val="FF0000"/>
                </a:solidFill>
              </a:rPr>
              <a:t>&gt;IIS_IUSER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147EDB-4369-C399-D4F0-B4FB2E088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13" y="2224637"/>
            <a:ext cx="2725034" cy="39858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94AA11-9EF0-0E1F-A4B8-A63F66DE9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442" y="2454778"/>
            <a:ext cx="8277168" cy="318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36962"/>
      </p:ext>
    </p:extLst>
  </p:cSld>
  <p:clrMapOvr>
    <a:masterClrMapping/>
  </p:clrMapOvr>
  <p:transition spd="med" advClick="0" advTm="2000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Platform installation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147C19-E6D0-2F59-888A-0F1545485374}"/>
              </a:ext>
            </a:extLst>
          </p:cNvPr>
          <p:cNvSpPr/>
          <p:nvPr/>
        </p:nvSpPr>
        <p:spPr>
          <a:xfrm>
            <a:off x="913712" y="1569943"/>
            <a:ext cx="6246687" cy="708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zh-CN" dirty="0"/>
              <a:t>Set permissions-</a:t>
            </a:r>
            <a:r>
              <a:rPr lang="en-US" altLang="zh-CN" dirty="0"/>
              <a:t>&gt;IIS_IUSER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772028-3031-7FFC-2797-22B4C1C95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12" y="2335041"/>
            <a:ext cx="3234179" cy="402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21914"/>
      </p:ext>
    </p:extLst>
  </p:cSld>
  <p:clrMapOvr>
    <a:masterClrMapping/>
  </p:clrMapOvr>
  <p:transition spd="med" advClick="0" advTm="2000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Platform installation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850995-E573-7625-5C6E-48FF10F6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8160"/>
            <a:ext cx="5257800" cy="33775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942F344-6D86-56D9-26F4-3058CF75A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805" y="1508160"/>
            <a:ext cx="4477161" cy="34596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E7AA2E7-052C-9297-36A2-AE2AE15D9AEB}"/>
              </a:ext>
            </a:extLst>
          </p:cNvPr>
          <p:cNvSpPr/>
          <p:nvPr/>
        </p:nvSpPr>
        <p:spPr>
          <a:xfrm>
            <a:off x="1019654" y="5190371"/>
            <a:ext cx="5861369" cy="10262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Verify that the platform installation was successful</a:t>
            </a:r>
          </a:p>
          <a:p>
            <a:pPr algn="ctr"/>
            <a:r>
              <a:rPr lang="en-US" altLang="zh-CN" dirty="0" err="1"/>
              <a:t>Username:</a:t>
            </a:r>
            <a:r>
              <a:rPr lang="en-US" altLang="zh-CN" dirty="0" err="1">
                <a:solidFill>
                  <a:srgbClr val="FF0000"/>
                </a:solidFill>
              </a:rPr>
              <a:t>admin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en-US" altLang="zh-CN" dirty="0" err="1"/>
              <a:t>Password:</a:t>
            </a:r>
            <a:r>
              <a:rPr lang="en-US" altLang="zh-CN" dirty="0" err="1">
                <a:solidFill>
                  <a:srgbClr val="FF0000"/>
                </a:solidFill>
              </a:rPr>
              <a:t>innovator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894827"/>
      </p:ext>
    </p:extLst>
  </p:cSld>
  <p:clrMapOvr>
    <a:masterClrMapping/>
  </p:clrMapOvr>
  <p:transition spd="med" advClick="0" advTm="2000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Restore data DEMO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EA67C9-A25D-CF49-4860-472012876441}"/>
              </a:ext>
            </a:extLst>
          </p:cNvPr>
          <p:cNvSpPr/>
          <p:nvPr/>
        </p:nvSpPr>
        <p:spPr>
          <a:xfrm>
            <a:off x="913712" y="1569943"/>
            <a:ext cx="6246687" cy="708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zh-CN" dirty="0"/>
              <a:t>images.zip Restore resource files</a:t>
            </a:r>
          </a:p>
          <a:p>
            <a:pPr algn="ctr"/>
            <a:r>
              <a:rPr lang="en-US" altLang="zh-CN" dirty="0"/>
              <a:t>C:\inetpub\wwwroot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E08EF1-5BE3-1E62-2804-C2BEFB36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29" y="2690554"/>
            <a:ext cx="9445658" cy="276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349507"/>
      </p:ext>
    </p:extLst>
  </p:cSld>
  <p:clrMapOvr>
    <a:masterClrMapping/>
  </p:clrMapOvr>
  <p:transition spd="med" advClick="0" advTm="2000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Restore data DEMO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B907B-7F23-5C3A-D7F7-0ED14BDE30DF}"/>
              </a:ext>
            </a:extLst>
          </p:cNvPr>
          <p:cNvSpPr/>
          <p:nvPr/>
        </p:nvSpPr>
        <p:spPr>
          <a:xfrm>
            <a:off x="1074656" y="1461156"/>
            <a:ext cx="5231876" cy="103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Open Microsoft SQL Server Management Studio 18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4DEAAD-D87E-F995-6A60-C4FC139B1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956" y="2602183"/>
            <a:ext cx="2752626" cy="354265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A72EEAC-B2E4-4A55-7839-6C69DF22D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56" y="2602183"/>
            <a:ext cx="3158458" cy="366664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2B7C23F-1E76-BA4D-25A4-244075E2895D}"/>
              </a:ext>
            </a:extLst>
          </p:cNvPr>
          <p:cNvSpPr/>
          <p:nvPr/>
        </p:nvSpPr>
        <p:spPr>
          <a:xfrm>
            <a:off x="4703568" y="2881347"/>
            <a:ext cx="2752626" cy="1920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Restore database</a:t>
            </a:r>
          </a:p>
          <a:p>
            <a:pPr algn="ctr"/>
            <a:r>
              <a:rPr lang="en-US" altLang="zh-CN" dirty="0"/>
              <a:t>1. Delete the original database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2656408"/>
      </p:ext>
    </p:extLst>
  </p:cSld>
  <p:clrMapOvr>
    <a:masterClrMapping/>
  </p:clrMapOvr>
  <p:transition spd="med" advClick="0" advTm="2000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Restore data DEMO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6EA593-AD0D-4B18-73C9-CBE2187BB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191" y="1455960"/>
            <a:ext cx="5378339" cy="45465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CC046CB-BA9C-DD4E-4875-43D0B41EA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88457"/>
            <a:ext cx="5378339" cy="4514075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05CDB5CA-B230-1C6E-76FA-270677AB5943}"/>
              </a:ext>
            </a:extLst>
          </p:cNvPr>
          <p:cNvSpPr/>
          <p:nvPr/>
        </p:nvSpPr>
        <p:spPr>
          <a:xfrm>
            <a:off x="6304191" y="2460328"/>
            <a:ext cx="1374889" cy="8091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Input FEA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31580"/>
      </p:ext>
    </p:extLst>
  </p:cSld>
  <p:clrMapOvr>
    <a:masterClrMapping/>
  </p:clrMapOvr>
  <p:transition spd="med" advClick="0" advTm="2000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Restore data DEMO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FC6900-51FE-13C3-94E9-D0FACC8B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76" y="2328863"/>
            <a:ext cx="7752568" cy="279691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6648963-EB41-0CE1-FE83-DE596E6E7577}"/>
              </a:ext>
            </a:extLst>
          </p:cNvPr>
          <p:cNvSpPr/>
          <p:nvPr/>
        </p:nvSpPr>
        <p:spPr>
          <a:xfrm>
            <a:off x="936876" y="1730123"/>
            <a:ext cx="1927476" cy="328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Execute script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4011076"/>
      </p:ext>
    </p:extLst>
  </p:cSld>
  <p:clrMapOvr>
    <a:masterClrMapping/>
  </p:clrMapOvr>
  <p:transition spd="med" advClick="0" advTm="2000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4564-AFC9-CD37-7DDA-7CCCDDFD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Restore data DEMO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9B67D4-6AD9-36C2-E682-F9676F23E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864" y="1390425"/>
            <a:ext cx="4827725" cy="469761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7D2629D-963B-DC89-AC8C-15AA2230CA7D}"/>
              </a:ext>
            </a:extLst>
          </p:cNvPr>
          <p:cNvSpPr/>
          <p:nvPr/>
        </p:nvSpPr>
        <p:spPr>
          <a:xfrm>
            <a:off x="8898406" y="1578820"/>
            <a:ext cx="2192806" cy="723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Restart IIS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1793044"/>
      </p:ext>
    </p:extLst>
  </p:cSld>
  <p:clrMapOvr>
    <a:masterClrMapping/>
  </p:clrMapOvr>
  <p:transition spd="med" advClick="0" advTm="2000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FDFC7-47BC-857D-1108-F18860D6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4400" b="1" spc="100" dirty="0">
                <a:solidFill>
                  <a:schemeClr val="tx1"/>
                </a:solidFill>
                <a:latin typeface="Montserrat" pitchFamily="2" charset="0"/>
                <a:ea typeface="微软雅黑" panose="020B0503020204020204" pitchFamily="34" charset="-122"/>
              </a:rPr>
              <a:t>Restore data DEMO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BBC6C8-7261-EC79-2A43-AB311FF25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2602"/>
            <a:ext cx="8408709" cy="485278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DE78C07-04AE-4280-AF24-C3882B875DFF}"/>
              </a:ext>
            </a:extLst>
          </p:cNvPr>
          <p:cNvSpPr/>
          <p:nvPr/>
        </p:nvSpPr>
        <p:spPr>
          <a:xfrm>
            <a:off x="9611068" y="1690688"/>
            <a:ext cx="2045887" cy="51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Verify demo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3988337"/>
      </p:ext>
    </p:extLst>
  </p:cSld>
  <p:clrMapOvr>
    <a:masterClrMapping/>
  </p:clrMapOvr>
  <p:transition spd="med" advClick="0" advTm="2000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B1B858-B8C3-4AD5-942A-52173B7D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47FC3F1-D4B3-4587-9472-DFAD8AE1375B}"/>
              </a:ext>
            </a:extLst>
          </p:cNvPr>
          <p:cNvGrpSpPr/>
          <p:nvPr/>
        </p:nvGrpSpPr>
        <p:grpSpPr>
          <a:xfrm>
            <a:off x="-245110" y="264160"/>
            <a:ext cx="7412355" cy="268589"/>
            <a:chOff x="-360" y="432"/>
            <a:chExt cx="4833" cy="1014"/>
          </a:xfrm>
        </p:grpSpPr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955B67A7-5A30-49E6-8DF6-2A71C8D74E0B}"/>
                </a:ext>
              </a:extLst>
            </p:cNvPr>
            <p:cNvSpPr/>
            <p:nvPr/>
          </p:nvSpPr>
          <p:spPr>
            <a:xfrm>
              <a:off x="-360" y="432"/>
              <a:ext cx="1891" cy="727"/>
            </a:xfrm>
            <a:prstGeom prst="parallelogram">
              <a:avLst/>
            </a:prstGeom>
            <a:solidFill>
              <a:srgbClr val="FFB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4" name="矩形 259">
              <a:extLst>
                <a:ext uri="{FF2B5EF4-FFF2-40B4-BE49-F238E27FC236}">
                  <a16:creationId xmlns:a16="http://schemas.microsoft.com/office/drawing/2014/main" id="{5B69EA07-0611-4A06-B044-450004C4A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505"/>
              <a:ext cx="2801" cy="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defRPr>
              </a:lvl9pPr>
            </a:lstStyle>
            <a:p>
              <a:pPr marL="0" marR="0" lvl="0" indent="0" algn="l" defTabSz="91421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EE3124"/>
                </a:buClr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B292479-22DD-4DCE-8535-EEC436A085E2}"/>
              </a:ext>
            </a:extLst>
          </p:cNvPr>
          <p:cNvSpPr txBox="1"/>
          <p:nvPr/>
        </p:nvSpPr>
        <p:spPr>
          <a:xfrm>
            <a:off x="2862263" y="3244334"/>
            <a:ext cx="6219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thank you</a:t>
            </a:r>
            <a:r>
              <a:rPr lang="en-US" altLang="zh-CN" sz="3600" dirty="0"/>
              <a:t>!</a:t>
            </a:r>
            <a:endParaRPr lang="zh-CN" altLang="en-US" sz="3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2DA085-2DA2-44D6-B022-6808547226CD}"/>
              </a:ext>
            </a:extLst>
          </p:cNvPr>
          <p:cNvSpPr txBox="1"/>
          <p:nvPr/>
        </p:nvSpPr>
        <p:spPr>
          <a:xfrm>
            <a:off x="2790825" y="163417"/>
            <a:ext cx="6291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</a:t>
            </a:r>
            <a:r>
              <a:rPr lang="zh-CN" altLang="en-US" dirty="0"/>
              <a:t>nd</a:t>
            </a:r>
          </a:p>
        </p:txBody>
      </p:sp>
    </p:spTree>
    <p:extLst>
      <p:ext uri="{BB962C8B-B14F-4D97-AF65-F5344CB8AC3E}">
        <p14:creationId xmlns:p14="http://schemas.microsoft.com/office/powerpoint/2010/main" val="35613571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12121"/>
      </a:hlink>
      <a:folHlink>
        <a:srgbClr val="212121"/>
      </a:folHlink>
    </a:clrScheme>
    <a:fontScheme name="svwi134i">
      <a:majorFont>
        <a:latin typeface="字魂59号-创粗黑"/>
        <a:ea typeface="字魂59号-创粗黑"/>
        <a:cs typeface=""/>
      </a:majorFont>
      <a:minorFont>
        <a:latin typeface="字魂59号-创粗黑"/>
        <a:ea typeface="字魂59号-创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561</Words>
  <Application>Microsoft Office PowerPoint</Application>
  <PresentationFormat>宽屏</PresentationFormat>
  <Paragraphs>147</Paragraphs>
  <Slides>31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Arial Unicode MS</vt:lpstr>
      <vt:lpstr>等线</vt:lpstr>
      <vt:lpstr>微软雅黑</vt:lpstr>
      <vt:lpstr>字魂59号-创粗黑</vt:lpstr>
      <vt:lpstr>Arial</vt:lpstr>
      <vt:lpstr>Calibri</vt:lpstr>
      <vt:lpstr>Lato Hairline</vt:lpstr>
      <vt:lpstr>Lato Light</vt:lpstr>
      <vt:lpstr>Lato Regular</vt:lpstr>
      <vt:lpstr>Montserrat</vt:lpstr>
      <vt:lpstr>Verdana</vt:lpstr>
      <vt:lpstr>Wingdings</vt:lpstr>
      <vt:lpstr>Office 主题​​</vt:lpstr>
      <vt:lpstr>自定义设计方案</vt:lpstr>
      <vt:lpstr>PowerPoint 演示文稿</vt:lpstr>
      <vt:lpstr>PowerPoint 演示文稿</vt:lpstr>
      <vt:lpstr>Environmental And runtime list</vt:lpstr>
      <vt:lpstr>Environmental And runtime list</vt:lpstr>
      <vt:lpstr>PowerPoint 演示文稿</vt:lpstr>
      <vt:lpstr>Windows server settings and IIS installation</vt:lpstr>
      <vt:lpstr>Windows server settings and IIS installation</vt:lpstr>
      <vt:lpstr>Windows server settings and IIS installation</vt:lpstr>
      <vt:lpstr>Windows server settings and IIS installation</vt:lpstr>
      <vt:lpstr>Windows server settings and IIS installation</vt:lpstr>
      <vt:lpstr>PowerPoint 演示文稿</vt:lpstr>
      <vt:lpstr>Runtime installation</vt:lpstr>
      <vt:lpstr>Runtime installation</vt:lpstr>
      <vt:lpstr>PowerPoint 演示文稿</vt:lpstr>
      <vt:lpstr>MSSQL installation</vt:lpstr>
      <vt:lpstr>MSSQL installation</vt:lpstr>
      <vt:lpstr>SSMS installation</vt:lpstr>
      <vt:lpstr>Microsoft Edge Setup</vt:lpstr>
      <vt:lpstr>PowerPoint 演示文稿</vt:lpstr>
      <vt:lpstr>Platform installation</vt:lpstr>
      <vt:lpstr>Platform installation</vt:lpstr>
      <vt:lpstr>Platform installation</vt:lpstr>
      <vt:lpstr>Platform installation</vt:lpstr>
      <vt:lpstr>Platform installation</vt:lpstr>
      <vt:lpstr>Restore data DEMO</vt:lpstr>
      <vt:lpstr>Restore data DEMO</vt:lpstr>
      <vt:lpstr>Restore data DEMO</vt:lpstr>
      <vt:lpstr>Restore data DEMO</vt:lpstr>
      <vt:lpstr>Restore data DEMO</vt:lpstr>
      <vt:lpstr>Restore data DEMO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</dc:title>
  <dc:creator>ZHIZHONG</dc:creator>
  <cp:lastModifiedBy>Light ZZ</cp:lastModifiedBy>
  <cp:revision>317</cp:revision>
  <dcterms:created xsi:type="dcterms:W3CDTF">2018-11-28T10:34:00Z</dcterms:created>
  <dcterms:modified xsi:type="dcterms:W3CDTF">2022-06-01T19:00:23Z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